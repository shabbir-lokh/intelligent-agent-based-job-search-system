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Times New Roman Bold" charset="1" panose="02030802070405020303"/>
      <p:regular r:id="rId16"/>
    </p:embeddedFont>
    <p:embeddedFont>
      <p:font typeface="Times New Roman" charset="1" panose="02030502070405020303"/>
      <p:regular r:id="rId17"/>
    </p:embeddedFont>
    <p:embeddedFont>
      <p:font typeface="Canva Sans" charset="1" panose="020B0503030501040103"/>
      <p:regular r:id="rId18"/>
    </p:embeddedFont>
    <p:embeddedFont>
      <p:font typeface="Calibri (MS)" charset="1" panose="020F0502020204030204"/>
      <p:regular r:id="rId19"/>
    </p:embeddedFont>
    <p:embeddedFont>
      <p:font typeface="HK Grotesk Bold" charset="1" panose="00000800000000000000"/>
      <p:regular r:id="rId20"/>
    </p:embeddedFont>
    <p:embeddedFont>
      <p:font typeface="Canva Sans Bold" charset="1" panose="020B0803030501040103"/>
      <p:regular r:id="rId21"/>
    </p:embeddedFont>
    <p:embeddedFont>
      <p:font typeface="Calibri (MS) Bold" charset="1" panose="020F070203040403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57170" y="183019"/>
            <a:ext cx="13944599" cy="2227797"/>
            <a:chOff x="0" y="0"/>
            <a:chExt cx="18592799" cy="2970395"/>
          </a:xfrm>
        </p:grpSpPr>
        <p:sp>
          <p:nvSpPr>
            <p:cNvPr name="Freeform 3" id="3"/>
            <p:cNvSpPr/>
            <p:nvPr/>
          </p:nvSpPr>
          <p:spPr>
            <a:xfrm flipH="false" flipV="false" rot="0">
              <a:off x="0" y="0"/>
              <a:ext cx="18592798" cy="2970395"/>
            </a:xfrm>
            <a:custGeom>
              <a:avLst/>
              <a:gdLst/>
              <a:ahLst/>
              <a:cxnLst/>
              <a:rect r="r" b="b" t="t" l="l"/>
              <a:pathLst>
                <a:path h="2970395" w="18592798">
                  <a:moveTo>
                    <a:pt x="0" y="0"/>
                  </a:moveTo>
                  <a:lnTo>
                    <a:pt x="18592798" y="0"/>
                  </a:lnTo>
                  <a:lnTo>
                    <a:pt x="18592798" y="2970395"/>
                  </a:lnTo>
                  <a:lnTo>
                    <a:pt x="0" y="2970395"/>
                  </a:lnTo>
                  <a:close/>
                </a:path>
              </a:pathLst>
            </a:custGeom>
            <a:solidFill>
              <a:srgbClr val="000000">
                <a:alpha val="0"/>
              </a:srgbClr>
            </a:solidFill>
          </p:spPr>
        </p:sp>
        <p:sp>
          <p:nvSpPr>
            <p:cNvPr name="TextBox 4" id="4"/>
            <p:cNvSpPr txBox="true"/>
            <p:nvPr/>
          </p:nvSpPr>
          <p:spPr>
            <a:xfrm>
              <a:off x="0" y="-57150"/>
              <a:ext cx="18592799" cy="3027545"/>
            </a:xfrm>
            <a:prstGeom prst="rect">
              <a:avLst/>
            </a:prstGeom>
          </p:spPr>
          <p:txBody>
            <a:bodyPr anchor="t" rtlCol="false" tIns="0" lIns="0" bIns="0" rIns="0"/>
            <a:lstStyle/>
            <a:p>
              <a:pPr algn="ctr">
                <a:lnSpc>
                  <a:spcPts val="2145"/>
                </a:lnSpc>
              </a:pPr>
              <a:r>
                <a:rPr lang="en-US" b="true" sz="1650" spc="-75">
                  <a:solidFill>
                    <a:srgbClr val="000000"/>
                  </a:solidFill>
                  <a:latin typeface="Times New Roman Bold"/>
                  <a:ea typeface="Times New Roman Bold"/>
                  <a:cs typeface="Times New Roman Bold"/>
                  <a:sym typeface="Times New Roman Bold"/>
                </a:rPr>
                <a:t>A</a:t>
              </a:r>
            </a:p>
            <a:p>
              <a:pPr algn="ctr">
                <a:lnSpc>
                  <a:spcPts val="2340"/>
                </a:lnSpc>
              </a:pPr>
              <a:r>
                <a:rPr lang="en-US" b="true" sz="1800" spc="-15">
                  <a:solidFill>
                    <a:srgbClr val="000000"/>
                  </a:solidFill>
                  <a:latin typeface="Times New Roman Bold"/>
                  <a:ea typeface="Times New Roman Bold"/>
                  <a:cs typeface="Times New Roman Bold"/>
                  <a:sym typeface="Times New Roman Bold"/>
                </a:rPr>
                <a:t>MICRO PROJECT</a:t>
              </a:r>
            </a:p>
            <a:p>
              <a:pPr algn="ctr">
                <a:lnSpc>
                  <a:spcPts val="3120"/>
                </a:lnSpc>
              </a:pPr>
              <a:r>
                <a:rPr lang="en-US" b="true" sz="2400" spc="-20">
                  <a:solidFill>
                    <a:srgbClr val="C00000"/>
                  </a:solidFill>
                  <a:latin typeface="Times New Roman Bold"/>
                  <a:ea typeface="Times New Roman Bold"/>
                  <a:cs typeface="Times New Roman Bold"/>
                  <a:sym typeface="Times New Roman Bold"/>
                </a:rPr>
                <a:t>Intelligent Agent based Job Search System</a:t>
              </a:r>
            </a:p>
            <a:p>
              <a:pPr algn="ctr">
                <a:lnSpc>
                  <a:spcPts val="2340"/>
                </a:lnSpc>
              </a:pPr>
              <a:r>
                <a:rPr lang="en-US" b="true" sz="1800" spc="-15">
                  <a:solidFill>
                    <a:srgbClr val="000000"/>
                  </a:solidFill>
                  <a:latin typeface="Times New Roman Bold"/>
                  <a:ea typeface="Times New Roman Bold"/>
                  <a:cs typeface="Times New Roman Bold"/>
                  <a:sym typeface="Times New Roman Bold"/>
                </a:rPr>
                <a:t>BACHELOR OF TECHNOLOGY</a:t>
              </a:r>
            </a:p>
            <a:p>
              <a:pPr algn="ctr">
                <a:lnSpc>
                  <a:spcPts val="2340"/>
                </a:lnSpc>
              </a:pPr>
              <a:r>
                <a:rPr lang="en-US" sz="1800" spc="-37">
                  <a:solidFill>
                    <a:srgbClr val="000000"/>
                  </a:solidFill>
                  <a:latin typeface="Times New Roman"/>
                  <a:ea typeface="Times New Roman"/>
                  <a:cs typeface="Times New Roman"/>
                  <a:sym typeface="Times New Roman"/>
                </a:rPr>
                <a:t>In</a:t>
              </a:r>
            </a:p>
            <a:p>
              <a:pPr algn="ctr">
                <a:lnSpc>
                  <a:spcPts val="2340"/>
                </a:lnSpc>
              </a:pPr>
              <a:r>
                <a:rPr lang="en-US" b="true" sz="1800" spc="-37">
                  <a:solidFill>
                    <a:srgbClr val="000000"/>
                  </a:solidFill>
                  <a:latin typeface="Times New Roman Bold"/>
                  <a:ea typeface="Times New Roman Bold"/>
                  <a:cs typeface="Times New Roman Bold"/>
                  <a:sym typeface="Times New Roman Bold"/>
                </a:rPr>
                <a:t>COMPUTER SCIENCE &amp; ENGINEERING</a:t>
              </a:r>
            </a:p>
            <a:p>
              <a:pPr algn="ctr">
                <a:lnSpc>
                  <a:spcPts val="2340"/>
                </a:lnSpc>
              </a:pPr>
              <a:r>
                <a:rPr lang="en-US" sz="1800" spc="-37">
                  <a:solidFill>
                    <a:srgbClr val="000000"/>
                  </a:solidFill>
                  <a:latin typeface="Times New Roman"/>
                  <a:ea typeface="Times New Roman"/>
                  <a:cs typeface="Times New Roman"/>
                  <a:sym typeface="Times New Roman"/>
                </a:rPr>
                <a:t>BY</a:t>
              </a:r>
            </a:p>
          </p:txBody>
        </p:sp>
      </p:grpSp>
      <p:grpSp>
        <p:nvGrpSpPr>
          <p:cNvPr name="Group 5" id="5"/>
          <p:cNvGrpSpPr/>
          <p:nvPr/>
        </p:nvGrpSpPr>
        <p:grpSpPr>
          <a:xfrm rot="0">
            <a:off x="5674532" y="2289521"/>
            <a:ext cx="3866606" cy="2861786"/>
            <a:chOff x="0" y="0"/>
            <a:chExt cx="5155475" cy="3815714"/>
          </a:xfrm>
        </p:grpSpPr>
        <p:sp>
          <p:nvSpPr>
            <p:cNvPr name="Freeform 6" id="6"/>
            <p:cNvSpPr/>
            <p:nvPr/>
          </p:nvSpPr>
          <p:spPr>
            <a:xfrm flipH="false" flipV="false" rot="0">
              <a:off x="0" y="0"/>
              <a:ext cx="5155475" cy="3815714"/>
            </a:xfrm>
            <a:custGeom>
              <a:avLst/>
              <a:gdLst/>
              <a:ahLst/>
              <a:cxnLst/>
              <a:rect r="r" b="b" t="t" l="l"/>
              <a:pathLst>
                <a:path h="3815714" w="5155475">
                  <a:moveTo>
                    <a:pt x="0" y="0"/>
                  </a:moveTo>
                  <a:lnTo>
                    <a:pt x="5155475" y="0"/>
                  </a:lnTo>
                  <a:lnTo>
                    <a:pt x="5155475" y="3815714"/>
                  </a:lnTo>
                  <a:lnTo>
                    <a:pt x="0" y="3815714"/>
                  </a:lnTo>
                  <a:close/>
                </a:path>
              </a:pathLst>
            </a:custGeom>
            <a:solidFill>
              <a:srgbClr val="000000">
                <a:alpha val="0"/>
              </a:srgbClr>
            </a:solidFill>
          </p:spPr>
        </p:sp>
        <p:sp>
          <p:nvSpPr>
            <p:cNvPr name="TextBox 7" id="7"/>
            <p:cNvSpPr txBox="true"/>
            <p:nvPr/>
          </p:nvSpPr>
          <p:spPr>
            <a:xfrm>
              <a:off x="0" y="-161925"/>
              <a:ext cx="5155475" cy="3977639"/>
            </a:xfrm>
            <a:prstGeom prst="rect">
              <a:avLst/>
            </a:prstGeom>
          </p:spPr>
          <p:txBody>
            <a:bodyPr anchor="t" rtlCol="false" tIns="0" lIns="0" bIns="0" rIns="0"/>
            <a:lstStyle/>
            <a:p>
              <a:pPr algn="l">
                <a:lnSpc>
                  <a:spcPts val="3411"/>
                </a:lnSpc>
              </a:pPr>
              <a:r>
                <a:rPr lang="en-US" sz="1800" b="true">
                  <a:solidFill>
                    <a:srgbClr val="001F5F"/>
                  </a:solidFill>
                  <a:latin typeface="Times New Roman Bold"/>
                  <a:ea typeface="Times New Roman Bold"/>
                  <a:cs typeface="Times New Roman Bold"/>
                  <a:sym typeface="Times New Roman Bold"/>
                </a:rPr>
                <a:t>V.AARUSHI               :</a:t>
              </a:r>
            </a:p>
            <a:p>
              <a:pPr algn="l">
                <a:lnSpc>
                  <a:spcPts val="3411"/>
                </a:lnSpc>
              </a:pPr>
              <a:r>
                <a:rPr lang="en-US" sz="1800" b="true">
                  <a:solidFill>
                    <a:srgbClr val="001F5F"/>
                  </a:solidFill>
                  <a:latin typeface="Times New Roman Bold"/>
                  <a:ea typeface="Times New Roman Bold"/>
                  <a:cs typeface="Times New Roman Bold"/>
                  <a:sym typeface="Times New Roman Bold"/>
                </a:rPr>
                <a:t>A.VARSHINI             :</a:t>
              </a:r>
            </a:p>
            <a:p>
              <a:pPr algn="l">
                <a:lnSpc>
                  <a:spcPts val="3411"/>
                </a:lnSpc>
              </a:pPr>
              <a:r>
                <a:rPr lang="en-US" sz="1800" b="true">
                  <a:solidFill>
                    <a:srgbClr val="001F5F"/>
                  </a:solidFill>
                  <a:latin typeface="Times New Roman Bold"/>
                  <a:ea typeface="Times New Roman Bold"/>
                  <a:cs typeface="Times New Roman Bold"/>
                  <a:sym typeface="Times New Roman Bold"/>
                </a:rPr>
                <a:t>S.SAI KIRAN             :</a:t>
              </a:r>
            </a:p>
            <a:p>
              <a:pPr algn="l">
                <a:lnSpc>
                  <a:spcPts val="3411"/>
                </a:lnSpc>
              </a:pPr>
              <a:r>
                <a:rPr lang="en-US" sz="1800" b="true">
                  <a:solidFill>
                    <a:srgbClr val="001F5F"/>
                  </a:solidFill>
                  <a:latin typeface="Times New Roman Bold"/>
                  <a:ea typeface="Times New Roman Bold"/>
                  <a:cs typeface="Times New Roman Bold"/>
                  <a:sym typeface="Times New Roman Bold"/>
                </a:rPr>
                <a:t>K. VALLA RAJU       :</a:t>
              </a:r>
            </a:p>
            <a:p>
              <a:pPr algn="l">
                <a:lnSpc>
                  <a:spcPts val="3411"/>
                </a:lnSpc>
              </a:pPr>
              <a:r>
                <a:rPr lang="en-US" sz="1800" b="true">
                  <a:solidFill>
                    <a:srgbClr val="001F5F"/>
                  </a:solidFill>
                  <a:latin typeface="Times New Roman Bold"/>
                  <a:ea typeface="Times New Roman Bold"/>
                  <a:cs typeface="Times New Roman Bold"/>
                  <a:sym typeface="Times New Roman Bold"/>
                </a:rPr>
                <a:t>L.SHABBIR                :</a:t>
              </a:r>
            </a:p>
            <a:p>
              <a:pPr algn="l">
                <a:lnSpc>
                  <a:spcPts val="3411"/>
                </a:lnSpc>
              </a:pPr>
              <a:r>
                <a:rPr lang="en-US" sz="1800" b="true">
                  <a:solidFill>
                    <a:srgbClr val="001F5F"/>
                  </a:solidFill>
                  <a:latin typeface="Times New Roman Bold"/>
                  <a:ea typeface="Times New Roman Bold"/>
                  <a:cs typeface="Times New Roman Bold"/>
                  <a:sym typeface="Times New Roman Bold"/>
                </a:rPr>
                <a:t>	</a:t>
              </a:r>
            </a:p>
          </p:txBody>
        </p:sp>
      </p:grpSp>
      <p:grpSp>
        <p:nvGrpSpPr>
          <p:cNvPr name="Group 8" id="8"/>
          <p:cNvGrpSpPr/>
          <p:nvPr/>
        </p:nvGrpSpPr>
        <p:grpSpPr>
          <a:xfrm rot="0">
            <a:off x="10296525" y="2248779"/>
            <a:ext cx="2661844" cy="2223843"/>
            <a:chOff x="0" y="0"/>
            <a:chExt cx="3549125" cy="2965124"/>
          </a:xfrm>
        </p:grpSpPr>
        <p:sp>
          <p:nvSpPr>
            <p:cNvPr name="Freeform 9" id="9"/>
            <p:cNvSpPr/>
            <p:nvPr/>
          </p:nvSpPr>
          <p:spPr>
            <a:xfrm flipH="false" flipV="false" rot="0">
              <a:off x="0" y="0"/>
              <a:ext cx="3549125" cy="2965124"/>
            </a:xfrm>
            <a:custGeom>
              <a:avLst/>
              <a:gdLst/>
              <a:ahLst/>
              <a:cxnLst/>
              <a:rect r="r" b="b" t="t" l="l"/>
              <a:pathLst>
                <a:path h="2965124" w="3549125">
                  <a:moveTo>
                    <a:pt x="0" y="0"/>
                  </a:moveTo>
                  <a:lnTo>
                    <a:pt x="3549125" y="0"/>
                  </a:lnTo>
                  <a:lnTo>
                    <a:pt x="3549125" y="2965124"/>
                  </a:lnTo>
                  <a:lnTo>
                    <a:pt x="0" y="2965124"/>
                  </a:lnTo>
                  <a:close/>
                </a:path>
              </a:pathLst>
            </a:custGeom>
            <a:solidFill>
              <a:srgbClr val="000000">
                <a:alpha val="0"/>
              </a:srgbClr>
            </a:solidFill>
          </p:spPr>
        </p:sp>
        <p:sp>
          <p:nvSpPr>
            <p:cNvPr name="TextBox 10" id="10"/>
            <p:cNvSpPr txBox="true"/>
            <p:nvPr/>
          </p:nvSpPr>
          <p:spPr>
            <a:xfrm>
              <a:off x="0" y="-152400"/>
              <a:ext cx="3549125" cy="3117524"/>
            </a:xfrm>
            <a:prstGeom prst="rect">
              <a:avLst/>
            </a:prstGeom>
          </p:spPr>
          <p:txBody>
            <a:bodyPr anchor="t" rtlCol="false" tIns="0" lIns="0" bIns="0" rIns="0"/>
            <a:lstStyle/>
            <a:p>
              <a:pPr algn="l">
                <a:lnSpc>
                  <a:spcPts val="3312"/>
                </a:lnSpc>
              </a:pPr>
              <a:r>
                <a:rPr lang="en-US" sz="1800">
                  <a:solidFill>
                    <a:srgbClr val="000000"/>
                  </a:solidFill>
                  <a:latin typeface="Times New Roman"/>
                  <a:ea typeface="Times New Roman"/>
                  <a:cs typeface="Times New Roman"/>
                  <a:sym typeface="Times New Roman"/>
                </a:rPr>
                <a:t>23Q91A05P9</a:t>
              </a:r>
            </a:p>
            <a:p>
              <a:pPr algn="l">
                <a:lnSpc>
                  <a:spcPts val="3312"/>
                </a:lnSpc>
              </a:pPr>
              <a:r>
                <a:rPr lang="en-US" sz="1800">
                  <a:solidFill>
                    <a:srgbClr val="000000"/>
                  </a:solidFill>
                  <a:latin typeface="Times New Roman"/>
                  <a:ea typeface="Times New Roman"/>
                  <a:cs typeface="Times New Roman"/>
                  <a:sym typeface="Times New Roman"/>
                </a:rPr>
                <a:t>23Q91A05J1</a:t>
              </a:r>
            </a:p>
            <a:p>
              <a:pPr algn="l">
                <a:lnSpc>
                  <a:spcPts val="3312"/>
                </a:lnSpc>
              </a:pPr>
              <a:r>
                <a:rPr lang="en-US" sz="1800">
                  <a:solidFill>
                    <a:srgbClr val="000000"/>
                  </a:solidFill>
                  <a:latin typeface="Times New Roman"/>
                  <a:ea typeface="Times New Roman"/>
                  <a:cs typeface="Times New Roman"/>
                  <a:sym typeface="Times New Roman"/>
                </a:rPr>
                <a:t>24Q95A0522</a:t>
              </a:r>
            </a:p>
            <a:p>
              <a:pPr algn="l">
                <a:lnSpc>
                  <a:spcPts val="3312"/>
                </a:lnSpc>
              </a:pPr>
              <a:r>
                <a:rPr lang="en-US" sz="1800">
                  <a:solidFill>
                    <a:srgbClr val="000000"/>
                  </a:solidFill>
                  <a:latin typeface="Times New Roman"/>
                  <a:ea typeface="Times New Roman"/>
                  <a:cs typeface="Times New Roman"/>
                  <a:sym typeface="Times New Roman"/>
                </a:rPr>
                <a:t>23Q91A05L9</a:t>
              </a:r>
            </a:p>
            <a:p>
              <a:pPr algn="l">
                <a:lnSpc>
                  <a:spcPts val="3312"/>
                </a:lnSpc>
              </a:pPr>
              <a:r>
                <a:rPr lang="en-US" sz="1800">
                  <a:solidFill>
                    <a:srgbClr val="000000"/>
                  </a:solidFill>
                  <a:latin typeface="Times New Roman"/>
                  <a:ea typeface="Times New Roman"/>
                  <a:cs typeface="Times New Roman"/>
                  <a:sym typeface="Times New Roman"/>
                </a:rPr>
                <a:t>24Q95A0521</a:t>
              </a:r>
            </a:p>
          </p:txBody>
        </p:sp>
      </p:grpSp>
      <p:grpSp>
        <p:nvGrpSpPr>
          <p:cNvPr name="Group 11" id="11"/>
          <p:cNvGrpSpPr/>
          <p:nvPr/>
        </p:nvGrpSpPr>
        <p:grpSpPr>
          <a:xfrm rot="0">
            <a:off x="3427079" y="4526600"/>
            <a:ext cx="11433842" cy="1753419"/>
            <a:chOff x="0" y="0"/>
            <a:chExt cx="15245123" cy="2337892"/>
          </a:xfrm>
        </p:grpSpPr>
        <p:sp>
          <p:nvSpPr>
            <p:cNvPr name="Freeform 12" id="12"/>
            <p:cNvSpPr/>
            <p:nvPr/>
          </p:nvSpPr>
          <p:spPr>
            <a:xfrm flipH="false" flipV="false" rot="0">
              <a:off x="0" y="0"/>
              <a:ext cx="15245122" cy="2337892"/>
            </a:xfrm>
            <a:custGeom>
              <a:avLst/>
              <a:gdLst/>
              <a:ahLst/>
              <a:cxnLst/>
              <a:rect r="r" b="b" t="t" l="l"/>
              <a:pathLst>
                <a:path h="2337892" w="15245122">
                  <a:moveTo>
                    <a:pt x="0" y="0"/>
                  </a:moveTo>
                  <a:lnTo>
                    <a:pt x="15245122" y="0"/>
                  </a:lnTo>
                  <a:lnTo>
                    <a:pt x="15245122" y="2337892"/>
                  </a:lnTo>
                  <a:lnTo>
                    <a:pt x="0" y="2337892"/>
                  </a:lnTo>
                  <a:close/>
                </a:path>
              </a:pathLst>
            </a:custGeom>
            <a:solidFill>
              <a:srgbClr val="000000">
                <a:alpha val="0"/>
              </a:srgbClr>
            </a:solidFill>
          </p:spPr>
        </p:sp>
        <p:sp>
          <p:nvSpPr>
            <p:cNvPr name="TextBox 13" id="13"/>
            <p:cNvSpPr txBox="true"/>
            <p:nvPr/>
          </p:nvSpPr>
          <p:spPr>
            <a:xfrm>
              <a:off x="0" y="-161925"/>
              <a:ext cx="15245123" cy="2499817"/>
            </a:xfrm>
            <a:prstGeom prst="rect">
              <a:avLst/>
            </a:prstGeom>
          </p:spPr>
          <p:txBody>
            <a:bodyPr anchor="t" rtlCol="false" tIns="0" lIns="0" bIns="0" rIns="0"/>
            <a:lstStyle/>
            <a:p>
              <a:pPr algn="ctr">
                <a:lnSpc>
                  <a:spcPts val="3411"/>
                </a:lnSpc>
              </a:pPr>
              <a:r>
                <a:rPr lang="en-US" b="true" sz="1800" spc="-15">
                  <a:solidFill>
                    <a:srgbClr val="000000"/>
                  </a:solidFill>
                  <a:latin typeface="Times New Roman Bold"/>
                  <a:ea typeface="Times New Roman Bold"/>
                  <a:cs typeface="Times New Roman Bold"/>
                  <a:sym typeface="Times New Roman Bold"/>
                </a:rPr>
                <a:t>Under the Guidance of </a:t>
              </a:r>
            </a:p>
            <a:p>
              <a:pPr algn="ctr">
                <a:lnSpc>
                  <a:spcPts val="3411"/>
                </a:lnSpc>
              </a:pPr>
              <a:r>
                <a:rPr lang="en-US" b="true" sz="1800" spc="-13">
                  <a:solidFill>
                    <a:srgbClr val="00AE50"/>
                  </a:solidFill>
                  <a:latin typeface="Times New Roman Bold"/>
                  <a:ea typeface="Times New Roman Bold"/>
                  <a:cs typeface="Times New Roman Bold"/>
                  <a:sym typeface="Times New Roman Bold"/>
                </a:rPr>
                <a:t>Mrs.  L. SUNITHA </a:t>
              </a:r>
            </a:p>
            <a:p>
              <a:pPr algn="ctr">
                <a:lnSpc>
                  <a:spcPts val="3411"/>
                </a:lnSpc>
              </a:pPr>
              <a:r>
                <a:rPr lang="en-US" b="true" sz="1800" spc="-15">
                  <a:solidFill>
                    <a:srgbClr val="00AE50"/>
                  </a:solidFill>
                  <a:latin typeface="Times New Roman Bold"/>
                  <a:ea typeface="Times New Roman Bold"/>
                  <a:cs typeface="Times New Roman Bold"/>
                  <a:sym typeface="Times New Roman Bold"/>
                </a:rPr>
                <a:t>ASST.PROFESSOR,Dept.of.CSE</a:t>
              </a:r>
            </a:p>
            <a:p>
              <a:pPr algn="ctr">
                <a:lnSpc>
                  <a:spcPts val="3411"/>
                </a:lnSpc>
              </a:pPr>
              <a:r>
                <a:rPr lang="en-US" b="true" sz="1800" spc="-15">
                  <a:solidFill>
                    <a:srgbClr val="00AE50"/>
                  </a:solidFill>
                  <a:latin typeface="Times New Roman Bold"/>
                  <a:ea typeface="Times New Roman Bold"/>
                  <a:cs typeface="Times New Roman Bold"/>
                  <a:sym typeface="Times New Roman Bold"/>
                </a:rPr>
                <a:t> </a:t>
              </a:r>
            </a:p>
          </p:txBody>
        </p:sp>
      </p:grpSp>
      <p:grpSp>
        <p:nvGrpSpPr>
          <p:cNvPr name="Group 14" id="14"/>
          <p:cNvGrpSpPr/>
          <p:nvPr/>
        </p:nvGrpSpPr>
        <p:grpSpPr>
          <a:xfrm rot="0">
            <a:off x="2437375" y="7132936"/>
            <a:ext cx="13413249" cy="3795089"/>
            <a:chOff x="0" y="0"/>
            <a:chExt cx="17884332" cy="5060119"/>
          </a:xfrm>
        </p:grpSpPr>
        <p:sp>
          <p:nvSpPr>
            <p:cNvPr name="Freeform 15" id="15"/>
            <p:cNvSpPr/>
            <p:nvPr/>
          </p:nvSpPr>
          <p:spPr>
            <a:xfrm flipH="false" flipV="false" rot="0">
              <a:off x="0" y="0"/>
              <a:ext cx="17884332" cy="5060119"/>
            </a:xfrm>
            <a:custGeom>
              <a:avLst/>
              <a:gdLst/>
              <a:ahLst/>
              <a:cxnLst/>
              <a:rect r="r" b="b" t="t" l="l"/>
              <a:pathLst>
                <a:path h="5060119" w="17884332">
                  <a:moveTo>
                    <a:pt x="0" y="0"/>
                  </a:moveTo>
                  <a:lnTo>
                    <a:pt x="17884332" y="0"/>
                  </a:lnTo>
                  <a:lnTo>
                    <a:pt x="17884332" y="5060119"/>
                  </a:lnTo>
                  <a:lnTo>
                    <a:pt x="0" y="5060119"/>
                  </a:lnTo>
                  <a:close/>
                </a:path>
              </a:pathLst>
            </a:custGeom>
            <a:solidFill>
              <a:srgbClr val="000000">
                <a:alpha val="0"/>
              </a:srgbClr>
            </a:solidFill>
          </p:spPr>
        </p:sp>
        <p:sp>
          <p:nvSpPr>
            <p:cNvPr name="TextBox 16" id="16"/>
            <p:cNvSpPr txBox="true"/>
            <p:nvPr/>
          </p:nvSpPr>
          <p:spPr>
            <a:xfrm>
              <a:off x="0" y="-142875"/>
              <a:ext cx="17884332" cy="5202994"/>
            </a:xfrm>
            <a:prstGeom prst="rect">
              <a:avLst/>
            </a:prstGeom>
          </p:spPr>
          <p:txBody>
            <a:bodyPr anchor="t" rtlCol="false" tIns="0" lIns="0" bIns="0" rIns="0"/>
            <a:lstStyle/>
            <a:p>
              <a:pPr algn="l">
                <a:lnSpc>
                  <a:spcPts val="3009"/>
                </a:lnSpc>
              </a:pPr>
            </a:p>
            <a:p>
              <a:pPr algn="l">
                <a:lnSpc>
                  <a:spcPts val="3009"/>
                </a:lnSpc>
              </a:pPr>
            </a:p>
            <a:p>
              <a:pPr algn="ctr">
                <a:lnSpc>
                  <a:spcPts val="3830"/>
                </a:lnSpc>
              </a:pPr>
              <a:r>
                <a:rPr lang="en-US" b="true" sz="2100" spc="-15">
                  <a:solidFill>
                    <a:srgbClr val="FF0000"/>
                  </a:solidFill>
                  <a:latin typeface="Times New Roman Bold"/>
                  <a:ea typeface="Times New Roman Bold"/>
                  <a:cs typeface="Times New Roman Bold"/>
                  <a:sym typeface="Times New Roman Bold"/>
                </a:rPr>
                <a:t>DEPARTMENT OF COMPUTER SCIENCE &amp; ENGINEERING </a:t>
              </a:r>
            </a:p>
            <a:p>
              <a:pPr algn="ctr">
                <a:lnSpc>
                  <a:spcPts val="3830"/>
                </a:lnSpc>
              </a:pPr>
              <a:r>
                <a:rPr lang="en-US" b="true" sz="2100" spc="-15">
                  <a:solidFill>
                    <a:srgbClr val="001F5F"/>
                  </a:solidFill>
                  <a:latin typeface="Times New Roman Bold"/>
                  <a:ea typeface="Times New Roman Bold"/>
                  <a:cs typeface="Times New Roman Bold"/>
                  <a:sym typeface="Times New Roman Bold"/>
                </a:rPr>
                <a:t>MALLA REDDY COLLEGE OF ENGINEERING</a:t>
              </a:r>
            </a:p>
            <a:p>
              <a:pPr algn="ctr">
                <a:lnSpc>
                  <a:spcPts val="2160"/>
                </a:lnSpc>
              </a:pPr>
              <a:r>
                <a:rPr lang="en-US" sz="1800" spc="-15">
                  <a:solidFill>
                    <a:srgbClr val="FF0000"/>
                  </a:solidFill>
                  <a:latin typeface="Times New Roman"/>
                  <a:ea typeface="Times New Roman"/>
                  <a:cs typeface="Times New Roman"/>
                  <a:sym typeface="Times New Roman"/>
                </a:rPr>
                <a:t>(Approved by AICTE - Permanently Affiliated to JNTU-Hyderabad)</a:t>
              </a:r>
            </a:p>
            <a:p>
              <a:pPr algn="ctr">
                <a:lnSpc>
                  <a:spcPts val="3267"/>
                </a:lnSpc>
              </a:pPr>
              <a:r>
                <a:rPr lang="en-US" sz="1650" spc="-13">
                  <a:solidFill>
                    <a:srgbClr val="2C74B5"/>
                  </a:solidFill>
                  <a:latin typeface="Times New Roman"/>
                  <a:ea typeface="Times New Roman"/>
                  <a:cs typeface="Times New Roman"/>
                  <a:sym typeface="Times New Roman"/>
                </a:rPr>
                <a:t>Accredited by NBA &amp; NAAC, Recognized section2(f) &amp;12(B) of UGC New Delhi ISO 9001:2015 Certified Institution</a:t>
              </a:r>
            </a:p>
            <a:p>
              <a:pPr algn="ctr">
                <a:lnSpc>
                  <a:spcPts val="1980"/>
                </a:lnSpc>
              </a:pPr>
              <a:r>
                <a:rPr lang="en-US" sz="1650" spc="-13">
                  <a:solidFill>
                    <a:srgbClr val="000000"/>
                  </a:solidFill>
                  <a:latin typeface="Times New Roman"/>
                  <a:ea typeface="Times New Roman"/>
                  <a:cs typeface="Times New Roman"/>
                  <a:sym typeface="Times New Roman"/>
                </a:rPr>
                <a:t>Maisammaguda, Dhulapally (Post via Kompally) Secunderabad – 500100</a:t>
              </a:r>
            </a:p>
            <a:p>
              <a:pPr algn="ctr">
                <a:lnSpc>
                  <a:spcPts val="1980"/>
                </a:lnSpc>
              </a:pPr>
              <a:r>
                <a:rPr lang="en-US" b="true" sz="1650" spc="-13">
                  <a:solidFill>
                    <a:srgbClr val="FF0000"/>
                  </a:solidFill>
                  <a:latin typeface="Times New Roman Bold"/>
                  <a:ea typeface="Times New Roman Bold"/>
                  <a:cs typeface="Times New Roman Bold"/>
                  <a:sym typeface="Times New Roman Bold"/>
                </a:rPr>
                <a:t>2024-2025</a:t>
              </a:r>
            </a:p>
          </p:txBody>
        </p:sp>
      </p:grpSp>
      <p:grpSp>
        <p:nvGrpSpPr>
          <p:cNvPr name="Group 17" id="17"/>
          <p:cNvGrpSpPr/>
          <p:nvPr/>
        </p:nvGrpSpPr>
        <p:grpSpPr>
          <a:xfrm rot="0">
            <a:off x="8176022" y="5858228"/>
            <a:ext cx="1935956" cy="2115658"/>
            <a:chOff x="0" y="0"/>
            <a:chExt cx="2581275" cy="2820877"/>
          </a:xfrm>
        </p:grpSpPr>
        <p:sp>
          <p:nvSpPr>
            <p:cNvPr name="Freeform 18" id="18"/>
            <p:cNvSpPr/>
            <p:nvPr/>
          </p:nvSpPr>
          <p:spPr>
            <a:xfrm flipH="false" flipV="false" rot="0">
              <a:off x="0" y="0"/>
              <a:ext cx="2581275" cy="2820924"/>
            </a:xfrm>
            <a:custGeom>
              <a:avLst/>
              <a:gdLst/>
              <a:ahLst/>
              <a:cxnLst/>
              <a:rect r="r" b="b" t="t" l="l"/>
              <a:pathLst>
                <a:path h="2820924" w="2581275">
                  <a:moveTo>
                    <a:pt x="0" y="0"/>
                  </a:moveTo>
                  <a:lnTo>
                    <a:pt x="2581275" y="0"/>
                  </a:lnTo>
                  <a:lnTo>
                    <a:pt x="2581275" y="2820924"/>
                  </a:lnTo>
                  <a:lnTo>
                    <a:pt x="0" y="2820924"/>
                  </a:lnTo>
                  <a:lnTo>
                    <a:pt x="0" y="0"/>
                  </a:lnTo>
                  <a:close/>
                </a:path>
              </a:pathLst>
            </a:custGeom>
            <a:blipFill>
              <a:blip r:embed="rId2"/>
              <a:stretch>
                <a:fillRect l="0" t="-960" r="0" b="-959"/>
              </a:stretch>
            </a:blipFill>
          </p:spPr>
        </p:sp>
      </p:grpSp>
      <p:grpSp>
        <p:nvGrpSpPr>
          <p:cNvPr name="Group 19" id="19"/>
          <p:cNvGrpSpPr/>
          <p:nvPr/>
        </p:nvGrpSpPr>
        <p:grpSpPr>
          <a:xfrm rot="0">
            <a:off x="17259300" y="9210675"/>
            <a:ext cx="152400" cy="200025"/>
            <a:chOff x="0" y="0"/>
            <a:chExt cx="203200" cy="266700"/>
          </a:xfrm>
        </p:grpSpPr>
        <p:sp>
          <p:nvSpPr>
            <p:cNvPr name="Freeform 20" id="20"/>
            <p:cNvSpPr/>
            <p:nvPr/>
          </p:nvSpPr>
          <p:spPr>
            <a:xfrm flipH="false" flipV="false" rot="0">
              <a:off x="0" y="0"/>
              <a:ext cx="203200" cy="266700"/>
            </a:xfrm>
            <a:custGeom>
              <a:avLst/>
              <a:gdLst/>
              <a:ahLst/>
              <a:cxnLst/>
              <a:rect r="r" b="b" t="t" l="l"/>
              <a:pathLst>
                <a:path h="266700" w="203200">
                  <a:moveTo>
                    <a:pt x="0" y="0"/>
                  </a:moveTo>
                  <a:lnTo>
                    <a:pt x="203200" y="0"/>
                  </a:lnTo>
                  <a:lnTo>
                    <a:pt x="203200" y="266700"/>
                  </a:lnTo>
                  <a:lnTo>
                    <a:pt x="0" y="266700"/>
                  </a:lnTo>
                  <a:close/>
                </a:path>
              </a:pathLst>
            </a:custGeom>
            <a:solidFill>
              <a:srgbClr val="000000">
                <a:alpha val="0"/>
              </a:srgbClr>
            </a:solidFill>
          </p:spPr>
        </p:sp>
        <p:sp>
          <p:nvSpPr>
            <p:cNvPr name="TextBox 21" id="21"/>
            <p:cNvSpPr txBox="true"/>
            <p:nvPr/>
          </p:nvSpPr>
          <p:spPr>
            <a:xfrm>
              <a:off x="0" y="-47625"/>
              <a:ext cx="203200" cy="314325"/>
            </a:xfrm>
            <a:prstGeom prst="rect">
              <a:avLst/>
            </a:prstGeom>
          </p:spPr>
          <p:txBody>
            <a:bodyPr anchor="t" rtlCol="false" tIns="0" lIns="0" bIns="0" rIns="0"/>
            <a:lstStyle/>
            <a:p>
              <a:pPr algn="ctr">
                <a:lnSpc>
                  <a:spcPts val="2800"/>
                </a:lnSpc>
              </a:pPr>
              <a:r>
                <a:rPr lang="en-US" sz="2000">
                  <a:solidFill>
                    <a:srgbClr val="000000"/>
                  </a:solidFill>
                  <a:latin typeface="Canva Sans"/>
                  <a:ea typeface="Canva Sans"/>
                  <a:cs typeface="Canva Sans"/>
                  <a:sym typeface="Canva Sans"/>
                </a:rPr>
                <a:t>1</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311805">
            <a:off x="6513600" y="-520869"/>
            <a:ext cx="12293309" cy="11647426"/>
            <a:chOff x="0" y="0"/>
            <a:chExt cx="16391079" cy="15529901"/>
          </a:xfrm>
        </p:grpSpPr>
        <p:sp>
          <p:nvSpPr>
            <p:cNvPr name="Freeform 3" id="3"/>
            <p:cNvSpPr/>
            <p:nvPr/>
          </p:nvSpPr>
          <p:spPr>
            <a:xfrm flipH="false" flipV="false" rot="0">
              <a:off x="0" y="0"/>
              <a:ext cx="16391128" cy="15529940"/>
            </a:xfrm>
            <a:custGeom>
              <a:avLst/>
              <a:gdLst/>
              <a:ahLst/>
              <a:cxnLst/>
              <a:rect r="r" b="b" t="t" l="l"/>
              <a:pathLst>
                <a:path h="15529940" w="16391128">
                  <a:moveTo>
                    <a:pt x="0" y="0"/>
                  </a:moveTo>
                  <a:lnTo>
                    <a:pt x="16391128" y="0"/>
                  </a:lnTo>
                  <a:lnTo>
                    <a:pt x="16391128" y="15529940"/>
                  </a:lnTo>
                  <a:lnTo>
                    <a:pt x="0" y="15529940"/>
                  </a:lnTo>
                  <a:close/>
                </a:path>
              </a:pathLst>
            </a:custGeom>
            <a:blipFill>
              <a:blip r:embed="rId2"/>
              <a:stretch>
                <a:fillRect l="-21059" t="0" r="-21059" b="0"/>
              </a:stretch>
            </a:blipFill>
          </p:spPr>
        </p:sp>
      </p:grpSp>
      <p:grpSp>
        <p:nvGrpSpPr>
          <p:cNvPr name="Group 4" id="4"/>
          <p:cNvGrpSpPr/>
          <p:nvPr/>
        </p:nvGrpSpPr>
        <p:grpSpPr>
          <a:xfrm rot="305945">
            <a:off x="-568639" y="-691942"/>
            <a:ext cx="8680338" cy="12137915"/>
            <a:chOff x="0" y="0"/>
            <a:chExt cx="11573784" cy="16183886"/>
          </a:xfrm>
        </p:grpSpPr>
        <p:sp>
          <p:nvSpPr>
            <p:cNvPr name="Freeform 5" id="5"/>
            <p:cNvSpPr/>
            <p:nvPr/>
          </p:nvSpPr>
          <p:spPr>
            <a:xfrm flipH="false" flipV="false" rot="0">
              <a:off x="0" y="0"/>
              <a:ext cx="11573764" cy="16183863"/>
            </a:xfrm>
            <a:custGeom>
              <a:avLst/>
              <a:gdLst/>
              <a:ahLst/>
              <a:cxnLst/>
              <a:rect r="r" b="b" t="t" l="l"/>
              <a:pathLst>
                <a:path h="16183863" w="11573764">
                  <a:moveTo>
                    <a:pt x="0" y="0"/>
                  </a:moveTo>
                  <a:lnTo>
                    <a:pt x="11573764" y="0"/>
                  </a:lnTo>
                  <a:lnTo>
                    <a:pt x="11573764" y="16183863"/>
                  </a:lnTo>
                  <a:lnTo>
                    <a:pt x="0" y="16183863"/>
                  </a:lnTo>
                  <a:close/>
                </a:path>
              </a:pathLst>
            </a:custGeom>
            <a:solidFill>
              <a:srgbClr val="0E3552"/>
            </a:solidFill>
          </p:spPr>
        </p:sp>
      </p:grpSp>
      <p:grpSp>
        <p:nvGrpSpPr>
          <p:cNvPr name="Group 6" id="6"/>
          <p:cNvGrpSpPr/>
          <p:nvPr/>
        </p:nvGrpSpPr>
        <p:grpSpPr>
          <a:xfrm rot="0">
            <a:off x="643034" y="3118796"/>
            <a:ext cx="7230852" cy="1030510"/>
            <a:chOff x="0" y="0"/>
            <a:chExt cx="9641136" cy="1374013"/>
          </a:xfrm>
        </p:grpSpPr>
        <p:sp>
          <p:nvSpPr>
            <p:cNvPr name="Freeform 7" id="7"/>
            <p:cNvSpPr/>
            <p:nvPr/>
          </p:nvSpPr>
          <p:spPr>
            <a:xfrm flipH="false" flipV="false" rot="0">
              <a:off x="0" y="0"/>
              <a:ext cx="9641136" cy="1374013"/>
            </a:xfrm>
            <a:custGeom>
              <a:avLst/>
              <a:gdLst/>
              <a:ahLst/>
              <a:cxnLst/>
              <a:rect r="r" b="b" t="t" l="l"/>
              <a:pathLst>
                <a:path h="1374013" w="9641136">
                  <a:moveTo>
                    <a:pt x="0" y="0"/>
                  </a:moveTo>
                  <a:lnTo>
                    <a:pt x="9641136" y="0"/>
                  </a:lnTo>
                  <a:lnTo>
                    <a:pt x="9641136" y="1374013"/>
                  </a:lnTo>
                  <a:lnTo>
                    <a:pt x="0" y="1374013"/>
                  </a:lnTo>
                  <a:close/>
                </a:path>
              </a:pathLst>
            </a:custGeom>
            <a:solidFill>
              <a:srgbClr val="000000">
                <a:alpha val="0"/>
              </a:srgbClr>
            </a:solidFill>
          </p:spPr>
        </p:sp>
        <p:sp>
          <p:nvSpPr>
            <p:cNvPr name="TextBox 8" id="8"/>
            <p:cNvSpPr txBox="true"/>
            <p:nvPr/>
          </p:nvSpPr>
          <p:spPr>
            <a:xfrm>
              <a:off x="0" y="-47625"/>
              <a:ext cx="9641136" cy="1421638"/>
            </a:xfrm>
            <a:prstGeom prst="rect">
              <a:avLst/>
            </a:prstGeom>
          </p:spPr>
          <p:txBody>
            <a:bodyPr anchor="t" rtlCol="false" tIns="0" lIns="0" bIns="0" rIns="0"/>
            <a:lstStyle/>
            <a:p>
              <a:pPr algn="l">
                <a:lnSpc>
                  <a:spcPts val="7062"/>
                </a:lnSpc>
              </a:pPr>
              <a:r>
                <a:rPr lang="en-US" sz="6600" b="true">
                  <a:solidFill>
                    <a:srgbClr val="FFFFFF"/>
                  </a:solidFill>
                  <a:latin typeface="Times New Roman Bold"/>
                  <a:ea typeface="Times New Roman Bold"/>
                  <a:cs typeface="Times New Roman Bold"/>
                  <a:sym typeface="Times New Roman Bold"/>
                </a:rPr>
                <a:t>CONTENTS</a:t>
              </a:r>
            </a:p>
          </p:txBody>
        </p:sp>
      </p:grpSp>
      <p:grpSp>
        <p:nvGrpSpPr>
          <p:cNvPr name="Group 9" id="9"/>
          <p:cNvGrpSpPr/>
          <p:nvPr/>
        </p:nvGrpSpPr>
        <p:grpSpPr>
          <a:xfrm rot="0">
            <a:off x="643034" y="1395458"/>
            <a:ext cx="1758919" cy="1590228"/>
            <a:chOff x="0" y="0"/>
            <a:chExt cx="2345226" cy="2120304"/>
          </a:xfrm>
        </p:grpSpPr>
        <p:sp>
          <p:nvSpPr>
            <p:cNvPr name="Freeform 10" id="10"/>
            <p:cNvSpPr/>
            <p:nvPr/>
          </p:nvSpPr>
          <p:spPr>
            <a:xfrm flipH="false" flipV="false" rot="0">
              <a:off x="0" y="0"/>
              <a:ext cx="2345226" cy="2120304"/>
            </a:xfrm>
            <a:custGeom>
              <a:avLst/>
              <a:gdLst/>
              <a:ahLst/>
              <a:cxnLst/>
              <a:rect r="r" b="b" t="t" l="l"/>
              <a:pathLst>
                <a:path h="2120304" w="2345226">
                  <a:moveTo>
                    <a:pt x="0" y="0"/>
                  </a:moveTo>
                  <a:lnTo>
                    <a:pt x="2345226" y="0"/>
                  </a:lnTo>
                  <a:lnTo>
                    <a:pt x="2345226" y="2120304"/>
                  </a:lnTo>
                  <a:lnTo>
                    <a:pt x="0" y="2120304"/>
                  </a:lnTo>
                  <a:close/>
                </a:path>
              </a:pathLst>
            </a:custGeom>
            <a:solidFill>
              <a:srgbClr val="000000">
                <a:alpha val="0"/>
              </a:srgbClr>
            </a:solidFill>
          </p:spPr>
        </p:sp>
        <p:sp>
          <p:nvSpPr>
            <p:cNvPr name="TextBox 11" id="11"/>
            <p:cNvSpPr txBox="true"/>
            <p:nvPr/>
          </p:nvSpPr>
          <p:spPr>
            <a:xfrm>
              <a:off x="0" y="-342900"/>
              <a:ext cx="2345226" cy="2463204"/>
            </a:xfrm>
            <a:prstGeom prst="rect">
              <a:avLst/>
            </a:prstGeom>
          </p:spPr>
          <p:txBody>
            <a:bodyPr anchor="t" rtlCol="false" tIns="0" lIns="0" bIns="0" rIns="0"/>
            <a:lstStyle/>
            <a:p>
              <a:pPr algn="l">
                <a:lnSpc>
                  <a:spcPts val="12361"/>
                </a:lnSpc>
              </a:pPr>
              <a:r>
                <a:rPr lang="en-US" sz="8829" b="true">
                  <a:solidFill>
                    <a:srgbClr val="FFFFFF"/>
                  </a:solidFill>
                  <a:latin typeface="Times New Roman Bold"/>
                  <a:ea typeface="Times New Roman Bold"/>
                  <a:cs typeface="Times New Roman Bold"/>
                  <a:sym typeface="Times New Roman Bold"/>
                </a:rPr>
                <a:t>05</a:t>
              </a:r>
            </a:p>
          </p:txBody>
        </p:sp>
      </p:grpSp>
      <p:grpSp>
        <p:nvGrpSpPr>
          <p:cNvPr name="Group 12" id="12"/>
          <p:cNvGrpSpPr/>
          <p:nvPr/>
        </p:nvGrpSpPr>
        <p:grpSpPr>
          <a:xfrm rot="0">
            <a:off x="643034" y="4353641"/>
            <a:ext cx="7053858" cy="4280726"/>
            <a:chOff x="0" y="0"/>
            <a:chExt cx="9405144" cy="5707634"/>
          </a:xfrm>
        </p:grpSpPr>
        <p:sp>
          <p:nvSpPr>
            <p:cNvPr name="Freeform 13" id="13"/>
            <p:cNvSpPr/>
            <p:nvPr/>
          </p:nvSpPr>
          <p:spPr>
            <a:xfrm flipH="false" flipV="false" rot="0">
              <a:off x="0" y="0"/>
              <a:ext cx="9405144" cy="5707635"/>
            </a:xfrm>
            <a:custGeom>
              <a:avLst/>
              <a:gdLst/>
              <a:ahLst/>
              <a:cxnLst/>
              <a:rect r="r" b="b" t="t" l="l"/>
              <a:pathLst>
                <a:path h="5707635" w="9405144">
                  <a:moveTo>
                    <a:pt x="0" y="0"/>
                  </a:moveTo>
                  <a:lnTo>
                    <a:pt x="9405144" y="0"/>
                  </a:lnTo>
                  <a:lnTo>
                    <a:pt x="9405144" y="5707635"/>
                  </a:lnTo>
                  <a:lnTo>
                    <a:pt x="0" y="5707635"/>
                  </a:lnTo>
                  <a:close/>
                </a:path>
              </a:pathLst>
            </a:custGeom>
            <a:solidFill>
              <a:srgbClr val="000000">
                <a:alpha val="0"/>
              </a:srgbClr>
            </a:solidFill>
          </p:spPr>
        </p:sp>
        <p:sp>
          <p:nvSpPr>
            <p:cNvPr name="TextBox 14" id="14"/>
            <p:cNvSpPr txBox="true"/>
            <p:nvPr/>
          </p:nvSpPr>
          <p:spPr>
            <a:xfrm>
              <a:off x="0" y="-57150"/>
              <a:ext cx="9405144" cy="5764784"/>
            </a:xfrm>
            <a:prstGeom prst="rect">
              <a:avLst/>
            </a:prstGeom>
          </p:spPr>
          <p:txBody>
            <a:bodyPr anchor="t" rtlCol="false" tIns="0" lIns="0" bIns="0" rIns="0"/>
            <a:lstStyle/>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Abstract</a:t>
              </a:r>
            </a:p>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Introduction</a:t>
              </a:r>
            </a:p>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Existing System</a:t>
              </a:r>
            </a:p>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Proposed System</a:t>
              </a:r>
            </a:p>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System Requirements</a:t>
              </a:r>
            </a:p>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Conclusion</a:t>
              </a:r>
            </a:p>
            <a:p>
              <a:pPr algn="l" marL="1715648" indent="-428912" lvl="3">
                <a:lnSpc>
                  <a:spcPts val="4744"/>
                </a:lnSpc>
                <a:buFont typeface="Arial"/>
                <a:buChar char="￭"/>
              </a:pPr>
              <a:r>
                <a:rPr lang="en-US" sz="4198">
                  <a:solidFill>
                    <a:srgbClr val="FFFFFF"/>
                  </a:solidFill>
                  <a:latin typeface="Calibri (MS)"/>
                  <a:ea typeface="Calibri (MS)"/>
                  <a:cs typeface="Calibri (MS)"/>
                  <a:sym typeface="Calibri (MS)"/>
                </a:rPr>
                <a:t>References</a:t>
              </a:r>
            </a:p>
          </p:txBody>
        </p:sp>
      </p:grpSp>
      <p:grpSp>
        <p:nvGrpSpPr>
          <p:cNvPr name="Group 15" id="15"/>
          <p:cNvGrpSpPr/>
          <p:nvPr/>
        </p:nvGrpSpPr>
        <p:grpSpPr>
          <a:xfrm rot="0">
            <a:off x="17259300" y="9210675"/>
            <a:ext cx="152400" cy="200025"/>
            <a:chOff x="0" y="0"/>
            <a:chExt cx="203200" cy="266700"/>
          </a:xfrm>
        </p:grpSpPr>
        <p:sp>
          <p:nvSpPr>
            <p:cNvPr name="Freeform 16" id="16"/>
            <p:cNvSpPr/>
            <p:nvPr/>
          </p:nvSpPr>
          <p:spPr>
            <a:xfrm flipH="false" flipV="false" rot="0">
              <a:off x="0" y="0"/>
              <a:ext cx="203200" cy="266700"/>
            </a:xfrm>
            <a:custGeom>
              <a:avLst/>
              <a:gdLst/>
              <a:ahLst/>
              <a:cxnLst/>
              <a:rect r="r" b="b" t="t" l="l"/>
              <a:pathLst>
                <a:path h="266700" w="203200">
                  <a:moveTo>
                    <a:pt x="0" y="0"/>
                  </a:moveTo>
                  <a:lnTo>
                    <a:pt x="203200" y="0"/>
                  </a:lnTo>
                  <a:lnTo>
                    <a:pt x="203200" y="266700"/>
                  </a:lnTo>
                  <a:lnTo>
                    <a:pt x="0" y="266700"/>
                  </a:lnTo>
                  <a:close/>
                </a:path>
              </a:pathLst>
            </a:custGeom>
            <a:solidFill>
              <a:srgbClr val="000000">
                <a:alpha val="0"/>
              </a:srgbClr>
            </a:solidFill>
          </p:spPr>
        </p:sp>
        <p:sp>
          <p:nvSpPr>
            <p:cNvPr name="TextBox 17" id="17"/>
            <p:cNvSpPr txBox="true"/>
            <p:nvPr/>
          </p:nvSpPr>
          <p:spPr>
            <a:xfrm>
              <a:off x="0" y="-47625"/>
              <a:ext cx="203200" cy="314325"/>
            </a:xfrm>
            <a:prstGeom prst="rect">
              <a:avLst/>
            </a:prstGeom>
          </p:spPr>
          <p:txBody>
            <a:bodyPr anchor="t" rtlCol="false" tIns="0" lIns="0" bIns="0" rIns="0"/>
            <a:lstStyle/>
            <a:p>
              <a:pPr algn="ctr">
                <a:lnSpc>
                  <a:spcPts val="2800"/>
                </a:lnSpc>
              </a:pPr>
              <a:r>
                <a:rPr lang="en-US" sz="2000">
                  <a:solidFill>
                    <a:srgbClr val="000000"/>
                  </a:solidFill>
                  <a:latin typeface="Canva Sans"/>
                  <a:ea typeface="Canva Sans"/>
                  <a:cs typeface="Canva Sans"/>
                  <a:sym typeface="Canva San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EDEEB"/>
        </a:solidFill>
      </p:bgPr>
    </p:bg>
    <p:spTree>
      <p:nvGrpSpPr>
        <p:cNvPr id="1" name=""/>
        <p:cNvGrpSpPr/>
        <p:nvPr/>
      </p:nvGrpSpPr>
      <p:grpSpPr>
        <a:xfrm>
          <a:off x="0" y="0"/>
          <a:ext cx="0" cy="0"/>
          <a:chOff x="0" y="0"/>
          <a:chExt cx="0" cy="0"/>
        </a:xfrm>
      </p:grpSpPr>
      <p:grpSp>
        <p:nvGrpSpPr>
          <p:cNvPr name="Group 2" id="2"/>
          <p:cNvGrpSpPr/>
          <p:nvPr/>
        </p:nvGrpSpPr>
        <p:grpSpPr>
          <a:xfrm rot="0">
            <a:off x="256783" y="3030033"/>
            <a:ext cx="9761649" cy="6077573"/>
            <a:chOff x="0" y="0"/>
            <a:chExt cx="13015532" cy="8103431"/>
          </a:xfrm>
        </p:grpSpPr>
        <p:sp>
          <p:nvSpPr>
            <p:cNvPr name="Freeform 3" id="3"/>
            <p:cNvSpPr/>
            <p:nvPr/>
          </p:nvSpPr>
          <p:spPr>
            <a:xfrm flipH="false" flipV="false" rot="0">
              <a:off x="0" y="0"/>
              <a:ext cx="13015533" cy="8103431"/>
            </a:xfrm>
            <a:custGeom>
              <a:avLst/>
              <a:gdLst/>
              <a:ahLst/>
              <a:cxnLst/>
              <a:rect r="r" b="b" t="t" l="l"/>
              <a:pathLst>
                <a:path h="8103431" w="13015533">
                  <a:moveTo>
                    <a:pt x="0" y="0"/>
                  </a:moveTo>
                  <a:lnTo>
                    <a:pt x="13015533" y="0"/>
                  </a:lnTo>
                  <a:lnTo>
                    <a:pt x="13015533" y="8103431"/>
                  </a:lnTo>
                  <a:lnTo>
                    <a:pt x="0" y="8103431"/>
                  </a:lnTo>
                  <a:close/>
                </a:path>
              </a:pathLst>
            </a:custGeom>
            <a:solidFill>
              <a:srgbClr val="000000">
                <a:alpha val="0"/>
              </a:srgbClr>
            </a:solidFill>
          </p:spPr>
        </p:sp>
        <p:sp>
          <p:nvSpPr>
            <p:cNvPr name="TextBox 4" id="4"/>
            <p:cNvSpPr txBox="true"/>
            <p:nvPr/>
          </p:nvSpPr>
          <p:spPr>
            <a:xfrm>
              <a:off x="0" y="-114300"/>
              <a:ext cx="13015532" cy="8217731"/>
            </a:xfrm>
            <a:prstGeom prst="rect">
              <a:avLst/>
            </a:prstGeom>
          </p:spPr>
          <p:txBody>
            <a:bodyPr anchor="t" rtlCol="false" tIns="0" lIns="0" bIns="0" rIns="0"/>
            <a:lstStyle/>
            <a:p>
              <a:pPr algn="l">
                <a:lnSpc>
                  <a:spcPts val="3723"/>
                </a:lnSpc>
              </a:pPr>
              <a:r>
                <a:rPr lang="en-US" sz="2659">
                  <a:solidFill>
                    <a:srgbClr val="2B4743"/>
                  </a:solidFill>
                  <a:latin typeface="Calibri (MS)"/>
                  <a:ea typeface="Calibri (MS)"/>
                  <a:cs typeface="Calibri (MS)"/>
                  <a:sym typeface="Calibri (MS)"/>
                </a:rPr>
                <a:t>Job searching can be time-consuming and inefficient due to the vast number of job listings and application processes. An Intelligent Agent-Based Job Search System leverages artificial intelligence and automation to streamline this process. The system uses intelligent agents to collect job listings from various sources, analyse user profiles, and match them with suitable opportunities based on skills, experience, and preferences. It automates resume customization, application submissions, and provides real-time notifications on job updates. By integrating machine learning and natural language processing, the system enhances job recommendation accuracy, reduces search time, and improves user experience. This approach optimizes job hunting, making it more effective and efficient for job seekers.</a:t>
              </a:r>
            </a:p>
          </p:txBody>
        </p:sp>
      </p:grpSp>
      <p:grpSp>
        <p:nvGrpSpPr>
          <p:cNvPr name="Group 5" id="5"/>
          <p:cNvGrpSpPr/>
          <p:nvPr/>
        </p:nvGrpSpPr>
        <p:grpSpPr>
          <a:xfrm rot="0">
            <a:off x="10018432" y="-687147"/>
            <a:ext cx="8269568" cy="13532879"/>
            <a:chOff x="0" y="0"/>
            <a:chExt cx="11026091" cy="18043839"/>
          </a:xfrm>
        </p:grpSpPr>
        <p:sp>
          <p:nvSpPr>
            <p:cNvPr name="Freeform 6" id="6"/>
            <p:cNvSpPr/>
            <p:nvPr/>
          </p:nvSpPr>
          <p:spPr>
            <a:xfrm flipH="false" flipV="false" rot="0">
              <a:off x="0" y="0"/>
              <a:ext cx="11026140" cy="18043779"/>
            </a:xfrm>
            <a:custGeom>
              <a:avLst/>
              <a:gdLst/>
              <a:ahLst/>
              <a:cxnLst/>
              <a:rect r="r" b="b" t="t" l="l"/>
              <a:pathLst>
                <a:path h="18043779" w="11026140">
                  <a:moveTo>
                    <a:pt x="11026140" y="0"/>
                  </a:moveTo>
                  <a:lnTo>
                    <a:pt x="11026140" y="18043779"/>
                  </a:lnTo>
                  <a:lnTo>
                    <a:pt x="0" y="18043779"/>
                  </a:lnTo>
                  <a:lnTo>
                    <a:pt x="0" y="12598146"/>
                  </a:lnTo>
                  <a:cubicBezTo>
                    <a:pt x="0" y="5640451"/>
                    <a:pt x="4936617" y="0"/>
                    <a:pt x="11026140" y="0"/>
                  </a:cubicBezTo>
                  <a:close/>
                </a:path>
              </a:pathLst>
            </a:custGeom>
            <a:blipFill>
              <a:blip r:embed="rId2"/>
              <a:stretch>
                <a:fillRect l="-4548" t="0" r="-4548" b="0"/>
              </a:stretch>
            </a:blipFill>
          </p:spPr>
        </p:sp>
      </p:grpSp>
      <p:grpSp>
        <p:nvGrpSpPr>
          <p:cNvPr name="Group 7" id="7"/>
          <p:cNvGrpSpPr/>
          <p:nvPr/>
        </p:nvGrpSpPr>
        <p:grpSpPr>
          <a:xfrm rot="0">
            <a:off x="1028700" y="1028700"/>
            <a:ext cx="7922057" cy="1726143"/>
            <a:chOff x="0" y="0"/>
            <a:chExt cx="10562743" cy="2301524"/>
          </a:xfrm>
        </p:grpSpPr>
        <p:sp>
          <p:nvSpPr>
            <p:cNvPr name="Freeform 8" id="8"/>
            <p:cNvSpPr/>
            <p:nvPr/>
          </p:nvSpPr>
          <p:spPr>
            <a:xfrm flipH="false" flipV="false" rot="0">
              <a:off x="0" y="0"/>
              <a:ext cx="10562743" cy="2301524"/>
            </a:xfrm>
            <a:custGeom>
              <a:avLst/>
              <a:gdLst/>
              <a:ahLst/>
              <a:cxnLst/>
              <a:rect r="r" b="b" t="t" l="l"/>
              <a:pathLst>
                <a:path h="2301524" w="10562743">
                  <a:moveTo>
                    <a:pt x="0" y="0"/>
                  </a:moveTo>
                  <a:lnTo>
                    <a:pt x="10562743" y="0"/>
                  </a:lnTo>
                  <a:lnTo>
                    <a:pt x="10562743" y="2301524"/>
                  </a:lnTo>
                  <a:lnTo>
                    <a:pt x="0" y="2301524"/>
                  </a:lnTo>
                  <a:close/>
                </a:path>
              </a:pathLst>
            </a:custGeom>
            <a:solidFill>
              <a:srgbClr val="000000">
                <a:alpha val="0"/>
              </a:srgbClr>
            </a:solidFill>
          </p:spPr>
        </p:sp>
        <p:sp>
          <p:nvSpPr>
            <p:cNvPr name="TextBox 9" id="9"/>
            <p:cNvSpPr txBox="true"/>
            <p:nvPr/>
          </p:nvSpPr>
          <p:spPr>
            <a:xfrm>
              <a:off x="0" y="0"/>
              <a:ext cx="10562743" cy="2301524"/>
            </a:xfrm>
            <a:prstGeom prst="rect">
              <a:avLst/>
            </a:prstGeom>
          </p:spPr>
          <p:txBody>
            <a:bodyPr anchor="t" rtlCol="false" tIns="0" lIns="0" bIns="0" rIns="0"/>
            <a:lstStyle/>
            <a:p>
              <a:pPr algn="l">
                <a:lnSpc>
                  <a:spcPts val="11332"/>
                </a:lnSpc>
              </a:pPr>
              <a:r>
                <a:rPr lang="en-US" sz="11332" b="true">
                  <a:solidFill>
                    <a:srgbClr val="2B4743"/>
                  </a:solidFill>
                  <a:latin typeface="Times New Roman Bold"/>
                  <a:ea typeface="Times New Roman Bold"/>
                  <a:cs typeface="Times New Roman Bold"/>
                  <a:sym typeface="Times New Roman Bold"/>
                </a:rPr>
                <a:t>ABSTRACT</a:t>
              </a:r>
            </a:p>
          </p:txBody>
        </p:sp>
      </p:grpSp>
      <p:grpSp>
        <p:nvGrpSpPr>
          <p:cNvPr name="Group 10" id="10"/>
          <p:cNvGrpSpPr/>
          <p:nvPr/>
        </p:nvGrpSpPr>
        <p:grpSpPr>
          <a:xfrm rot="0">
            <a:off x="17259300" y="9210675"/>
            <a:ext cx="152400" cy="200025"/>
            <a:chOff x="0" y="0"/>
            <a:chExt cx="203200" cy="266700"/>
          </a:xfrm>
        </p:grpSpPr>
        <p:sp>
          <p:nvSpPr>
            <p:cNvPr name="Freeform 11" id="11"/>
            <p:cNvSpPr/>
            <p:nvPr/>
          </p:nvSpPr>
          <p:spPr>
            <a:xfrm flipH="false" flipV="false" rot="0">
              <a:off x="0" y="0"/>
              <a:ext cx="203200" cy="266700"/>
            </a:xfrm>
            <a:custGeom>
              <a:avLst/>
              <a:gdLst/>
              <a:ahLst/>
              <a:cxnLst/>
              <a:rect r="r" b="b" t="t" l="l"/>
              <a:pathLst>
                <a:path h="266700" w="203200">
                  <a:moveTo>
                    <a:pt x="0" y="0"/>
                  </a:moveTo>
                  <a:lnTo>
                    <a:pt x="203200" y="0"/>
                  </a:lnTo>
                  <a:lnTo>
                    <a:pt x="203200" y="266700"/>
                  </a:lnTo>
                  <a:lnTo>
                    <a:pt x="0" y="266700"/>
                  </a:lnTo>
                  <a:close/>
                </a:path>
              </a:pathLst>
            </a:custGeom>
            <a:solidFill>
              <a:srgbClr val="000000">
                <a:alpha val="0"/>
              </a:srgbClr>
            </a:solidFill>
          </p:spPr>
        </p:sp>
        <p:sp>
          <p:nvSpPr>
            <p:cNvPr name="TextBox 12" id="12"/>
            <p:cNvSpPr txBox="true"/>
            <p:nvPr/>
          </p:nvSpPr>
          <p:spPr>
            <a:xfrm>
              <a:off x="0" y="-47625"/>
              <a:ext cx="203200" cy="314325"/>
            </a:xfrm>
            <a:prstGeom prst="rect">
              <a:avLst/>
            </a:prstGeom>
          </p:spPr>
          <p:txBody>
            <a:bodyPr anchor="t" rtlCol="false" tIns="0" lIns="0" bIns="0" rIns="0"/>
            <a:lstStyle/>
            <a:p>
              <a:pPr algn="ctr">
                <a:lnSpc>
                  <a:spcPts val="2800"/>
                </a:lnSpc>
              </a:pPr>
              <a:r>
                <a:rPr lang="en-US" sz="2000">
                  <a:solidFill>
                    <a:srgbClr val="2B4743"/>
                  </a:solidFill>
                  <a:latin typeface="Canva Sans"/>
                  <a:ea typeface="Canva Sans"/>
                  <a:cs typeface="Canva Sans"/>
                  <a:sym typeface="Canva Sans"/>
                </a:rPr>
                <a:t>3</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CEDEEB"/>
        </a:solidFill>
      </p:bgPr>
    </p:bg>
    <p:spTree>
      <p:nvGrpSpPr>
        <p:cNvPr id="1" name=""/>
        <p:cNvGrpSpPr/>
        <p:nvPr/>
      </p:nvGrpSpPr>
      <p:grpSpPr>
        <a:xfrm>
          <a:off x="0" y="0"/>
          <a:ext cx="0" cy="0"/>
          <a:chOff x="0" y="0"/>
          <a:chExt cx="0" cy="0"/>
        </a:xfrm>
      </p:grpSpPr>
      <p:grpSp>
        <p:nvGrpSpPr>
          <p:cNvPr name="Group 2" id="2"/>
          <p:cNvGrpSpPr/>
          <p:nvPr/>
        </p:nvGrpSpPr>
        <p:grpSpPr>
          <a:xfrm rot="0">
            <a:off x="1302924" y="1399146"/>
            <a:ext cx="15798727" cy="9525"/>
            <a:chOff x="0" y="0"/>
            <a:chExt cx="21064969" cy="12700"/>
          </a:xfrm>
        </p:grpSpPr>
        <p:sp>
          <p:nvSpPr>
            <p:cNvPr name="Freeform 3" id="3"/>
            <p:cNvSpPr/>
            <p:nvPr/>
          </p:nvSpPr>
          <p:spPr>
            <a:xfrm flipH="false" flipV="false" rot="0">
              <a:off x="0" y="0"/>
              <a:ext cx="21064982" cy="12700"/>
            </a:xfrm>
            <a:custGeom>
              <a:avLst/>
              <a:gdLst/>
              <a:ahLst/>
              <a:cxnLst/>
              <a:rect r="r" b="b" t="t" l="l"/>
              <a:pathLst>
                <a:path h="12700" w="21064982">
                  <a:moveTo>
                    <a:pt x="6350" y="0"/>
                  </a:moveTo>
                  <a:lnTo>
                    <a:pt x="21058632" y="0"/>
                  </a:lnTo>
                  <a:cubicBezTo>
                    <a:pt x="21062189" y="0"/>
                    <a:pt x="21064982" y="2794"/>
                    <a:pt x="21064982" y="6350"/>
                  </a:cubicBezTo>
                  <a:cubicBezTo>
                    <a:pt x="21064982" y="9906"/>
                    <a:pt x="21062189" y="12700"/>
                    <a:pt x="21058632" y="12700"/>
                  </a:cubicBezTo>
                  <a:lnTo>
                    <a:pt x="6350" y="12700"/>
                  </a:lnTo>
                  <a:cubicBezTo>
                    <a:pt x="2794" y="12700"/>
                    <a:pt x="0" y="9906"/>
                    <a:pt x="0" y="6350"/>
                  </a:cubicBezTo>
                  <a:cubicBezTo>
                    <a:pt x="0" y="2794"/>
                    <a:pt x="2794" y="0"/>
                    <a:pt x="6350" y="0"/>
                  </a:cubicBezTo>
                  <a:close/>
                </a:path>
              </a:pathLst>
            </a:custGeom>
            <a:solidFill>
              <a:srgbClr val="2B4743"/>
            </a:solidFill>
          </p:spPr>
        </p:sp>
      </p:grpSp>
      <p:grpSp>
        <p:nvGrpSpPr>
          <p:cNvPr name="Group 4" id="4"/>
          <p:cNvGrpSpPr/>
          <p:nvPr/>
        </p:nvGrpSpPr>
        <p:grpSpPr>
          <a:xfrm rot="0">
            <a:off x="1307687" y="2061278"/>
            <a:ext cx="11619054" cy="1757254"/>
            <a:chOff x="0" y="0"/>
            <a:chExt cx="15492072" cy="2343005"/>
          </a:xfrm>
        </p:grpSpPr>
        <p:sp>
          <p:nvSpPr>
            <p:cNvPr name="Freeform 5" id="5"/>
            <p:cNvSpPr/>
            <p:nvPr/>
          </p:nvSpPr>
          <p:spPr>
            <a:xfrm flipH="false" flipV="false" rot="0">
              <a:off x="0" y="0"/>
              <a:ext cx="15492071" cy="2343005"/>
            </a:xfrm>
            <a:custGeom>
              <a:avLst/>
              <a:gdLst/>
              <a:ahLst/>
              <a:cxnLst/>
              <a:rect r="r" b="b" t="t" l="l"/>
              <a:pathLst>
                <a:path h="2343005" w="15492071">
                  <a:moveTo>
                    <a:pt x="0" y="0"/>
                  </a:moveTo>
                  <a:lnTo>
                    <a:pt x="15492071" y="0"/>
                  </a:lnTo>
                  <a:lnTo>
                    <a:pt x="15492071" y="2343005"/>
                  </a:lnTo>
                  <a:lnTo>
                    <a:pt x="0" y="2343005"/>
                  </a:lnTo>
                  <a:close/>
                </a:path>
              </a:pathLst>
            </a:custGeom>
            <a:solidFill>
              <a:srgbClr val="000000">
                <a:alpha val="0"/>
              </a:srgbClr>
            </a:solidFill>
          </p:spPr>
        </p:sp>
        <p:sp>
          <p:nvSpPr>
            <p:cNvPr name="TextBox 6" id="6"/>
            <p:cNvSpPr txBox="true"/>
            <p:nvPr/>
          </p:nvSpPr>
          <p:spPr>
            <a:xfrm>
              <a:off x="0" y="-123825"/>
              <a:ext cx="15492072" cy="2466830"/>
            </a:xfrm>
            <a:prstGeom prst="rect">
              <a:avLst/>
            </a:prstGeom>
          </p:spPr>
          <p:txBody>
            <a:bodyPr anchor="t" rtlCol="false" tIns="0" lIns="0" bIns="0" rIns="0"/>
            <a:lstStyle/>
            <a:p>
              <a:pPr algn="l">
                <a:lnSpc>
                  <a:spcPts val="12156"/>
                </a:lnSpc>
              </a:pPr>
              <a:r>
                <a:rPr lang="en-US" sz="10951" b="true">
                  <a:solidFill>
                    <a:srgbClr val="2B4743"/>
                  </a:solidFill>
                  <a:latin typeface="Times New Roman Bold"/>
                  <a:ea typeface="Times New Roman Bold"/>
                  <a:cs typeface="Times New Roman Bold"/>
                  <a:sym typeface="Times New Roman Bold"/>
                </a:rPr>
                <a:t>INTRODUCTION</a:t>
              </a:r>
            </a:p>
          </p:txBody>
        </p:sp>
      </p:grpSp>
      <p:grpSp>
        <p:nvGrpSpPr>
          <p:cNvPr name="Group 7" id="7"/>
          <p:cNvGrpSpPr/>
          <p:nvPr/>
        </p:nvGrpSpPr>
        <p:grpSpPr>
          <a:xfrm rot="0">
            <a:off x="1307687" y="4155663"/>
            <a:ext cx="11619054" cy="5367329"/>
            <a:chOff x="0" y="0"/>
            <a:chExt cx="15492072" cy="7156439"/>
          </a:xfrm>
        </p:grpSpPr>
        <p:sp>
          <p:nvSpPr>
            <p:cNvPr name="Freeform 8" id="8"/>
            <p:cNvSpPr/>
            <p:nvPr/>
          </p:nvSpPr>
          <p:spPr>
            <a:xfrm flipH="false" flipV="false" rot="0">
              <a:off x="0" y="0"/>
              <a:ext cx="15492071" cy="7156439"/>
            </a:xfrm>
            <a:custGeom>
              <a:avLst/>
              <a:gdLst/>
              <a:ahLst/>
              <a:cxnLst/>
              <a:rect r="r" b="b" t="t" l="l"/>
              <a:pathLst>
                <a:path h="7156439" w="15492071">
                  <a:moveTo>
                    <a:pt x="0" y="0"/>
                  </a:moveTo>
                  <a:lnTo>
                    <a:pt x="15492071" y="0"/>
                  </a:lnTo>
                  <a:lnTo>
                    <a:pt x="15492071" y="7156439"/>
                  </a:lnTo>
                  <a:lnTo>
                    <a:pt x="0" y="7156439"/>
                  </a:lnTo>
                  <a:close/>
                </a:path>
              </a:pathLst>
            </a:custGeom>
            <a:solidFill>
              <a:srgbClr val="000000">
                <a:alpha val="0"/>
              </a:srgbClr>
            </a:solidFill>
          </p:spPr>
        </p:sp>
        <p:sp>
          <p:nvSpPr>
            <p:cNvPr name="TextBox 9" id="9"/>
            <p:cNvSpPr txBox="true"/>
            <p:nvPr/>
          </p:nvSpPr>
          <p:spPr>
            <a:xfrm>
              <a:off x="0" y="-95250"/>
              <a:ext cx="15492072" cy="7251689"/>
            </a:xfrm>
            <a:prstGeom prst="rect">
              <a:avLst/>
            </a:prstGeom>
          </p:spPr>
          <p:txBody>
            <a:bodyPr anchor="t" rtlCol="false" tIns="0" lIns="0" bIns="0" rIns="0"/>
            <a:lstStyle/>
            <a:p>
              <a:pPr algn="l">
                <a:lnSpc>
                  <a:spcPts val="4264"/>
                </a:lnSpc>
              </a:pPr>
              <a:r>
                <a:rPr lang="en-US" sz="3279">
                  <a:solidFill>
                    <a:srgbClr val="2B4743"/>
                  </a:solidFill>
                  <a:latin typeface="Calibri (MS)"/>
                  <a:ea typeface="Calibri (MS)"/>
                  <a:cs typeface="Calibri (MS)"/>
                  <a:sym typeface="Calibri (MS)"/>
                </a:rPr>
                <a:t>Normally when we want to apply for a job, we search the newspapers; listen to radio and television broadcasts that may advertise vacancies and also job seekers register themselves with job site portals such as Academickeys.com, Monster.com, and Careerbuilder.com and so on. In general, employers do not register themselves with these mediums to provide full details of the job specifications but instead post important details on their own website only. Also with the growing number of online job search engines, making it almost impossible for job seekers to get an overview of all relevant positions.</a:t>
              </a:r>
            </a:p>
          </p:txBody>
        </p:sp>
      </p:grpSp>
      <p:grpSp>
        <p:nvGrpSpPr>
          <p:cNvPr name="Group 10" id="10"/>
          <p:cNvGrpSpPr/>
          <p:nvPr/>
        </p:nvGrpSpPr>
        <p:grpSpPr>
          <a:xfrm rot="0">
            <a:off x="17259300" y="9210675"/>
            <a:ext cx="152400" cy="200025"/>
            <a:chOff x="0" y="0"/>
            <a:chExt cx="203200" cy="266700"/>
          </a:xfrm>
        </p:grpSpPr>
        <p:sp>
          <p:nvSpPr>
            <p:cNvPr name="Freeform 11" id="11"/>
            <p:cNvSpPr/>
            <p:nvPr/>
          </p:nvSpPr>
          <p:spPr>
            <a:xfrm flipH="false" flipV="false" rot="0">
              <a:off x="0" y="0"/>
              <a:ext cx="203200" cy="266700"/>
            </a:xfrm>
            <a:custGeom>
              <a:avLst/>
              <a:gdLst/>
              <a:ahLst/>
              <a:cxnLst/>
              <a:rect r="r" b="b" t="t" l="l"/>
              <a:pathLst>
                <a:path h="266700" w="203200">
                  <a:moveTo>
                    <a:pt x="0" y="0"/>
                  </a:moveTo>
                  <a:lnTo>
                    <a:pt x="203200" y="0"/>
                  </a:lnTo>
                  <a:lnTo>
                    <a:pt x="203200" y="266700"/>
                  </a:lnTo>
                  <a:lnTo>
                    <a:pt x="0" y="266700"/>
                  </a:lnTo>
                  <a:close/>
                </a:path>
              </a:pathLst>
            </a:custGeom>
            <a:solidFill>
              <a:srgbClr val="000000">
                <a:alpha val="0"/>
              </a:srgbClr>
            </a:solidFill>
          </p:spPr>
        </p:sp>
        <p:sp>
          <p:nvSpPr>
            <p:cNvPr name="TextBox 12" id="12"/>
            <p:cNvSpPr txBox="true"/>
            <p:nvPr/>
          </p:nvSpPr>
          <p:spPr>
            <a:xfrm>
              <a:off x="0" y="-47625"/>
              <a:ext cx="203200" cy="314325"/>
            </a:xfrm>
            <a:prstGeom prst="rect">
              <a:avLst/>
            </a:prstGeom>
          </p:spPr>
          <p:txBody>
            <a:bodyPr anchor="t" rtlCol="false" tIns="0" lIns="0" bIns="0" rIns="0"/>
            <a:lstStyle/>
            <a:p>
              <a:pPr algn="ctr">
                <a:lnSpc>
                  <a:spcPts val="2800"/>
                </a:lnSpc>
              </a:pPr>
              <a:r>
                <a:rPr lang="en-US" sz="2000">
                  <a:solidFill>
                    <a:srgbClr val="2B4743"/>
                  </a:solidFill>
                  <a:latin typeface="Canva Sans"/>
                  <a:ea typeface="Canva Sans"/>
                  <a:cs typeface="Canva Sans"/>
                  <a:sym typeface="Canva San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EDEEB"/>
        </a:solidFill>
      </p:bgPr>
    </p:bg>
    <p:spTree>
      <p:nvGrpSpPr>
        <p:cNvPr id="1" name=""/>
        <p:cNvGrpSpPr/>
        <p:nvPr/>
      </p:nvGrpSpPr>
      <p:grpSpPr>
        <a:xfrm>
          <a:off x="0" y="0"/>
          <a:ext cx="0" cy="0"/>
          <a:chOff x="0" y="0"/>
          <a:chExt cx="0" cy="0"/>
        </a:xfrm>
      </p:grpSpPr>
      <p:grpSp>
        <p:nvGrpSpPr>
          <p:cNvPr name="Group 2" id="2"/>
          <p:cNvGrpSpPr/>
          <p:nvPr/>
        </p:nvGrpSpPr>
        <p:grpSpPr>
          <a:xfrm rot="0">
            <a:off x="7970324" y="2986472"/>
            <a:ext cx="7955305" cy="5586623"/>
            <a:chOff x="0" y="0"/>
            <a:chExt cx="10607073" cy="7448831"/>
          </a:xfrm>
        </p:grpSpPr>
        <p:sp>
          <p:nvSpPr>
            <p:cNvPr name="Freeform 3" id="3"/>
            <p:cNvSpPr/>
            <p:nvPr/>
          </p:nvSpPr>
          <p:spPr>
            <a:xfrm flipH="false" flipV="false" rot="0">
              <a:off x="0" y="0"/>
              <a:ext cx="10607073" cy="7448831"/>
            </a:xfrm>
            <a:custGeom>
              <a:avLst/>
              <a:gdLst/>
              <a:ahLst/>
              <a:cxnLst/>
              <a:rect r="r" b="b" t="t" l="l"/>
              <a:pathLst>
                <a:path h="7448831" w="10607073">
                  <a:moveTo>
                    <a:pt x="0" y="0"/>
                  </a:moveTo>
                  <a:lnTo>
                    <a:pt x="10607073" y="0"/>
                  </a:lnTo>
                  <a:lnTo>
                    <a:pt x="10607073" y="7448831"/>
                  </a:lnTo>
                  <a:lnTo>
                    <a:pt x="0" y="7448831"/>
                  </a:lnTo>
                  <a:close/>
                </a:path>
              </a:pathLst>
            </a:custGeom>
            <a:solidFill>
              <a:srgbClr val="000000">
                <a:alpha val="0"/>
              </a:srgbClr>
            </a:solidFill>
          </p:spPr>
        </p:sp>
        <p:sp>
          <p:nvSpPr>
            <p:cNvPr name="TextBox 4" id="4"/>
            <p:cNvSpPr txBox="true"/>
            <p:nvPr/>
          </p:nvSpPr>
          <p:spPr>
            <a:xfrm>
              <a:off x="0" y="-28575"/>
              <a:ext cx="10607073" cy="7477406"/>
            </a:xfrm>
            <a:prstGeom prst="rect">
              <a:avLst/>
            </a:prstGeom>
          </p:spPr>
          <p:txBody>
            <a:bodyPr anchor="t" rtlCol="false" tIns="0" lIns="0" bIns="0" rIns="0"/>
            <a:lstStyle/>
            <a:p>
              <a:pPr algn="l">
                <a:lnSpc>
                  <a:spcPts val="3680"/>
                </a:lnSpc>
              </a:pPr>
              <a:r>
                <a:rPr lang="en-US" sz="2831" b="true">
                  <a:solidFill>
                    <a:srgbClr val="2B4743"/>
                  </a:solidFill>
                  <a:latin typeface="HK Grotesk Bold"/>
                  <a:ea typeface="HK Grotesk Bold"/>
                  <a:cs typeface="HK Grotesk Bold"/>
                  <a:sym typeface="HK Grotesk Bold"/>
                </a:rPr>
                <a:t>The existing system for job recruitment includes traditional methods like Employment agencies, advertising through newspapers, televisions and radios, college fairs etc., which are too slow and stressful. With the advancement of internet, jobseekers rely on the online job portals, which make the job search efficient. Again, most of these are limited to the web/desktop applications, which requires jobseekers to have a laptop or desktop connected to internet and is not handy. And disadvantages include: Time Consuming, Stressful, and Challenging.</a:t>
              </a:r>
            </a:p>
          </p:txBody>
        </p:sp>
      </p:grpSp>
      <p:grpSp>
        <p:nvGrpSpPr>
          <p:cNvPr name="Group 5" id="5"/>
          <p:cNvGrpSpPr/>
          <p:nvPr/>
        </p:nvGrpSpPr>
        <p:grpSpPr>
          <a:xfrm rot="0">
            <a:off x="7970324" y="1678185"/>
            <a:ext cx="9040494" cy="633328"/>
            <a:chOff x="0" y="0"/>
            <a:chExt cx="12053992" cy="844438"/>
          </a:xfrm>
        </p:grpSpPr>
        <p:sp>
          <p:nvSpPr>
            <p:cNvPr name="Freeform 6" id="6"/>
            <p:cNvSpPr/>
            <p:nvPr/>
          </p:nvSpPr>
          <p:spPr>
            <a:xfrm flipH="false" flipV="false" rot="0">
              <a:off x="0" y="0"/>
              <a:ext cx="12053992" cy="844438"/>
            </a:xfrm>
            <a:custGeom>
              <a:avLst/>
              <a:gdLst/>
              <a:ahLst/>
              <a:cxnLst/>
              <a:rect r="r" b="b" t="t" l="l"/>
              <a:pathLst>
                <a:path h="844438" w="12053992">
                  <a:moveTo>
                    <a:pt x="0" y="0"/>
                  </a:moveTo>
                  <a:lnTo>
                    <a:pt x="12053992" y="0"/>
                  </a:lnTo>
                  <a:lnTo>
                    <a:pt x="12053992" y="844438"/>
                  </a:lnTo>
                  <a:lnTo>
                    <a:pt x="0" y="844438"/>
                  </a:lnTo>
                  <a:close/>
                </a:path>
              </a:pathLst>
            </a:custGeom>
            <a:solidFill>
              <a:srgbClr val="000000">
                <a:alpha val="0"/>
              </a:srgbClr>
            </a:solidFill>
          </p:spPr>
        </p:sp>
        <p:sp>
          <p:nvSpPr>
            <p:cNvPr name="TextBox 7" id="7"/>
            <p:cNvSpPr txBox="true"/>
            <p:nvPr/>
          </p:nvSpPr>
          <p:spPr>
            <a:xfrm>
              <a:off x="0" y="-47625"/>
              <a:ext cx="12053992" cy="892063"/>
            </a:xfrm>
            <a:prstGeom prst="rect">
              <a:avLst/>
            </a:prstGeom>
          </p:spPr>
          <p:txBody>
            <a:bodyPr anchor="t" rtlCol="false" tIns="0" lIns="0" bIns="0" rIns="0"/>
            <a:lstStyle/>
            <a:p>
              <a:pPr algn="l">
                <a:lnSpc>
                  <a:spcPts val="5134"/>
                </a:lnSpc>
              </a:pPr>
              <a:r>
                <a:rPr lang="en-US" sz="3949" b="true">
                  <a:solidFill>
                    <a:srgbClr val="2B4743"/>
                  </a:solidFill>
                  <a:latin typeface="HK Grotesk Bold"/>
                  <a:ea typeface="HK Grotesk Bold"/>
                  <a:cs typeface="HK Grotesk Bold"/>
                  <a:sym typeface="HK Grotesk Bold"/>
                </a:rPr>
                <a:t>EXISTING SYSTEM</a:t>
              </a:r>
            </a:p>
          </p:txBody>
        </p:sp>
      </p:grpSp>
      <p:sp>
        <p:nvSpPr>
          <p:cNvPr name="Freeform 8" id="8"/>
          <p:cNvSpPr/>
          <p:nvPr/>
        </p:nvSpPr>
        <p:spPr>
          <a:xfrm flipH="false" flipV="false" rot="0">
            <a:off x="1567077" y="1608026"/>
            <a:ext cx="5039658" cy="7070949"/>
          </a:xfrm>
          <a:custGeom>
            <a:avLst/>
            <a:gdLst/>
            <a:ahLst/>
            <a:cxnLst/>
            <a:rect r="r" b="b" t="t" l="l"/>
            <a:pathLst>
              <a:path h="7070949" w="5039658">
                <a:moveTo>
                  <a:pt x="0" y="0"/>
                </a:moveTo>
                <a:lnTo>
                  <a:pt x="5039658" y="0"/>
                </a:lnTo>
                <a:lnTo>
                  <a:pt x="5039658" y="7070949"/>
                </a:lnTo>
                <a:lnTo>
                  <a:pt x="0" y="7070949"/>
                </a:lnTo>
                <a:lnTo>
                  <a:pt x="0" y="0"/>
                </a:lnTo>
                <a:close/>
              </a:path>
            </a:pathLst>
          </a:custGeom>
          <a:blipFill>
            <a:blip r:embed="rId2">
              <a:extLst>
                <a:ext uri="{96DAC541-7B7A-43D3-8B79-37D633B846F1}">
                  <asvg:svgBlip xmlns:asvg="http://schemas.microsoft.com/office/drawing/2016/SVG/main" r:embed="rId3"/>
                </a:ext>
              </a:extLst>
            </a:blip>
            <a:stretch>
              <a:fillRect l="0" t="-25" r="0" b="-25"/>
            </a:stretch>
          </a:blipFill>
        </p:spPr>
      </p:sp>
      <p:grpSp>
        <p:nvGrpSpPr>
          <p:cNvPr name="Group 9" id="9"/>
          <p:cNvGrpSpPr/>
          <p:nvPr/>
        </p:nvGrpSpPr>
        <p:grpSpPr>
          <a:xfrm rot="0">
            <a:off x="17259300" y="9239250"/>
            <a:ext cx="45021" cy="108548"/>
            <a:chOff x="0" y="0"/>
            <a:chExt cx="60028" cy="144731"/>
          </a:xfrm>
        </p:grpSpPr>
        <p:sp>
          <p:nvSpPr>
            <p:cNvPr name="Freeform 10" id="10"/>
            <p:cNvSpPr/>
            <p:nvPr/>
          </p:nvSpPr>
          <p:spPr>
            <a:xfrm flipH="false" flipV="false" rot="0">
              <a:off x="0" y="0"/>
              <a:ext cx="60028" cy="144731"/>
            </a:xfrm>
            <a:custGeom>
              <a:avLst/>
              <a:gdLst/>
              <a:ahLst/>
              <a:cxnLst/>
              <a:rect r="r" b="b" t="t" l="l"/>
              <a:pathLst>
                <a:path h="144731" w="60028">
                  <a:moveTo>
                    <a:pt x="0" y="0"/>
                  </a:moveTo>
                  <a:lnTo>
                    <a:pt x="60028" y="0"/>
                  </a:lnTo>
                  <a:lnTo>
                    <a:pt x="60028" y="144731"/>
                  </a:lnTo>
                  <a:lnTo>
                    <a:pt x="0" y="144731"/>
                  </a:lnTo>
                  <a:close/>
                </a:path>
              </a:pathLst>
            </a:custGeom>
            <a:solidFill>
              <a:srgbClr val="000000">
                <a:alpha val="0"/>
              </a:srgbClr>
            </a:solidFill>
          </p:spPr>
        </p:sp>
        <p:sp>
          <p:nvSpPr>
            <p:cNvPr name="TextBox 11" id="11"/>
            <p:cNvSpPr txBox="true"/>
            <p:nvPr/>
          </p:nvSpPr>
          <p:spPr>
            <a:xfrm>
              <a:off x="0" y="-19050"/>
              <a:ext cx="60028" cy="163781"/>
            </a:xfrm>
            <a:prstGeom prst="rect">
              <a:avLst/>
            </a:prstGeom>
          </p:spPr>
          <p:txBody>
            <a:bodyPr anchor="t" rtlCol="false" tIns="0" lIns="0" bIns="0" rIns="0"/>
            <a:lstStyle/>
            <a:p>
              <a:pPr algn="ctr">
                <a:lnSpc>
                  <a:spcPts val="838"/>
                </a:lnSpc>
              </a:pPr>
              <a:r>
                <a:rPr lang="en-US" sz="600" b="true">
                  <a:solidFill>
                    <a:srgbClr val="2B4743"/>
                  </a:solidFill>
                  <a:latin typeface="HK Grotesk Bold"/>
                  <a:ea typeface="HK Grotesk Bold"/>
                  <a:cs typeface="HK Grotesk Bold"/>
                  <a:sym typeface="HK Grotesk Bold"/>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EDEEB"/>
        </a:solidFill>
      </p:bgPr>
    </p:bg>
    <p:spTree>
      <p:nvGrpSpPr>
        <p:cNvPr id="1" name=""/>
        <p:cNvGrpSpPr/>
        <p:nvPr/>
      </p:nvGrpSpPr>
      <p:grpSpPr>
        <a:xfrm>
          <a:off x="0" y="0"/>
          <a:ext cx="0" cy="0"/>
          <a:chOff x="0" y="0"/>
          <a:chExt cx="0" cy="0"/>
        </a:xfrm>
      </p:grpSpPr>
      <p:grpSp>
        <p:nvGrpSpPr>
          <p:cNvPr name="Group 2" id="2"/>
          <p:cNvGrpSpPr/>
          <p:nvPr/>
        </p:nvGrpSpPr>
        <p:grpSpPr>
          <a:xfrm rot="0">
            <a:off x="8543703" y="2786559"/>
            <a:ext cx="9244345" cy="5638717"/>
            <a:chOff x="0" y="0"/>
            <a:chExt cx="12325793" cy="7518289"/>
          </a:xfrm>
        </p:grpSpPr>
        <p:sp>
          <p:nvSpPr>
            <p:cNvPr name="Freeform 3" id="3"/>
            <p:cNvSpPr/>
            <p:nvPr/>
          </p:nvSpPr>
          <p:spPr>
            <a:xfrm flipH="false" flipV="false" rot="0">
              <a:off x="0" y="0"/>
              <a:ext cx="12325731" cy="7518273"/>
            </a:xfrm>
            <a:custGeom>
              <a:avLst/>
              <a:gdLst/>
              <a:ahLst/>
              <a:cxnLst/>
              <a:rect r="r" b="b" t="t" l="l"/>
              <a:pathLst>
                <a:path h="7518273" w="12325731">
                  <a:moveTo>
                    <a:pt x="0" y="0"/>
                  </a:moveTo>
                  <a:lnTo>
                    <a:pt x="12325731" y="0"/>
                  </a:lnTo>
                  <a:lnTo>
                    <a:pt x="12325731" y="7518273"/>
                  </a:lnTo>
                  <a:lnTo>
                    <a:pt x="0" y="7518273"/>
                  </a:lnTo>
                  <a:close/>
                </a:path>
              </a:pathLst>
            </a:custGeom>
            <a:blipFill>
              <a:blip r:embed="rId2"/>
              <a:stretch>
                <a:fillRect l="0" t="-248" r="0" b="-248"/>
              </a:stretch>
            </a:blipFill>
          </p:spPr>
        </p:sp>
      </p:grpSp>
      <p:grpSp>
        <p:nvGrpSpPr>
          <p:cNvPr name="Group 4" id="4"/>
          <p:cNvGrpSpPr/>
          <p:nvPr/>
        </p:nvGrpSpPr>
        <p:grpSpPr>
          <a:xfrm rot="0">
            <a:off x="1599564" y="540976"/>
            <a:ext cx="15088872" cy="1219274"/>
            <a:chOff x="0" y="0"/>
            <a:chExt cx="20118496" cy="1625699"/>
          </a:xfrm>
        </p:grpSpPr>
        <p:sp>
          <p:nvSpPr>
            <p:cNvPr name="Freeform 5" id="5"/>
            <p:cNvSpPr/>
            <p:nvPr/>
          </p:nvSpPr>
          <p:spPr>
            <a:xfrm flipH="false" flipV="false" rot="0">
              <a:off x="0" y="0"/>
              <a:ext cx="20118496" cy="1625699"/>
            </a:xfrm>
            <a:custGeom>
              <a:avLst/>
              <a:gdLst/>
              <a:ahLst/>
              <a:cxnLst/>
              <a:rect r="r" b="b" t="t" l="l"/>
              <a:pathLst>
                <a:path h="1625699" w="20118496">
                  <a:moveTo>
                    <a:pt x="0" y="0"/>
                  </a:moveTo>
                  <a:lnTo>
                    <a:pt x="20118496" y="0"/>
                  </a:lnTo>
                  <a:lnTo>
                    <a:pt x="20118496" y="1625699"/>
                  </a:lnTo>
                  <a:lnTo>
                    <a:pt x="0" y="1625699"/>
                  </a:lnTo>
                  <a:close/>
                </a:path>
              </a:pathLst>
            </a:custGeom>
            <a:solidFill>
              <a:srgbClr val="000000">
                <a:alpha val="0"/>
              </a:srgbClr>
            </a:solidFill>
          </p:spPr>
        </p:sp>
        <p:sp>
          <p:nvSpPr>
            <p:cNvPr name="TextBox 6" id="6"/>
            <p:cNvSpPr txBox="true"/>
            <p:nvPr/>
          </p:nvSpPr>
          <p:spPr>
            <a:xfrm>
              <a:off x="0" y="-142875"/>
              <a:ext cx="20118496" cy="1768574"/>
            </a:xfrm>
            <a:prstGeom prst="rect">
              <a:avLst/>
            </a:prstGeom>
          </p:spPr>
          <p:txBody>
            <a:bodyPr anchor="t" rtlCol="false" tIns="0" lIns="0" bIns="0" rIns="0"/>
            <a:lstStyle/>
            <a:p>
              <a:pPr algn="ctr">
                <a:lnSpc>
                  <a:spcPts val="8531"/>
                </a:lnSpc>
              </a:pPr>
              <a:r>
                <a:rPr lang="en-US" sz="7109" b="true">
                  <a:solidFill>
                    <a:srgbClr val="2B4743"/>
                  </a:solidFill>
                  <a:latin typeface="Times New Roman Bold"/>
                  <a:ea typeface="Times New Roman Bold"/>
                  <a:cs typeface="Times New Roman Bold"/>
                  <a:sym typeface="Times New Roman Bold"/>
                </a:rPr>
                <a:t>PROPOSED SYSTEM :</a:t>
              </a:r>
            </a:p>
          </p:txBody>
        </p:sp>
      </p:grpSp>
      <p:grpSp>
        <p:nvGrpSpPr>
          <p:cNvPr name="Group 7" id="7"/>
          <p:cNvGrpSpPr/>
          <p:nvPr/>
        </p:nvGrpSpPr>
        <p:grpSpPr>
          <a:xfrm rot="0">
            <a:off x="547468" y="2075775"/>
            <a:ext cx="7751147" cy="7307182"/>
            <a:chOff x="0" y="0"/>
            <a:chExt cx="10334863" cy="9742909"/>
          </a:xfrm>
        </p:grpSpPr>
        <p:sp>
          <p:nvSpPr>
            <p:cNvPr name="Freeform 8" id="8"/>
            <p:cNvSpPr/>
            <p:nvPr/>
          </p:nvSpPr>
          <p:spPr>
            <a:xfrm flipH="false" flipV="false" rot="0">
              <a:off x="0" y="0"/>
              <a:ext cx="10334863" cy="9742909"/>
            </a:xfrm>
            <a:custGeom>
              <a:avLst/>
              <a:gdLst/>
              <a:ahLst/>
              <a:cxnLst/>
              <a:rect r="r" b="b" t="t" l="l"/>
              <a:pathLst>
                <a:path h="9742909" w="10334863">
                  <a:moveTo>
                    <a:pt x="0" y="0"/>
                  </a:moveTo>
                  <a:lnTo>
                    <a:pt x="10334863" y="0"/>
                  </a:lnTo>
                  <a:lnTo>
                    <a:pt x="10334863" y="9742909"/>
                  </a:lnTo>
                  <a:lnTo>
                    <a:pt x="0" y="9742909"/>
                  </a:lnTo>
                  <a:close/>
                </a:path>
              </a:pathLst>
            </a:custGeom>
            <a:solidFill>
              <a:srgbClr val="000000">
                <a:alpha val="0"/>
              </a:srgbClr>
            </a:solidFill>
          </p:spPr>
        </p:sp>
        <p:sp>
          <p:nvSpPr>
            <p:cNvPr name="TextBox 9" id="9"/>
            <p:cNvSpPr txBox="true"/>
            <p:nvPr/>
          </p:nvSpPr>
          <p:spPr>
            <a:xfrm>
              <a:off x="0" y="-57150"/>
              <a:ext cx="10334863" cy="9800059"/>
            </a:xfrm>
            <a:prstGeom prst="rect">
              <a:avLst/>
            </a:prstGeom>
          </p:spPr>
          <p:txBody>
            <a:bodyPr anchor="t" rtlCol="false" tIns="0" lIns="0" bIns="0" rIns="0"/>
            <a:lstStyle/>
            <a:p>
              <a:pPr algn="l">
                <a:lnSpc>
                  <a:spcPts val="3657"/>
                </a:lnSpc>
              </a:pPr>
              <a:r>
                <a:rPr lang="en-US" sz="2612" b="true">
                  <a:solidFill>
                    <a:srgbClr val="2B4743"/>
                  </a:solidFill>
                  <a:latin typeface="Canva Sans Bold"/>
                  <a:ea typeface="Canva Sans Bold"/>
                  <a:cs typeface="Canva Sans Bold"/>
                  <a:sym typeface="Canva Sans Bold"/>
                </a:rPr>
                <a:t>Proposed System</a:t>
              </a:r>
              <a:r>
                <a:rPr lang="en-US" sz="2612">
                  <a:solidFill>
                    <a:srgbClr val="2B4743"/>
                  </a:solidFill>
                  <a:latin typeface="Canva Sans"/>
                  <a:ea typeface="Canva Sans"/>
                  <a:cs typeface="Canva Sans"/>
                  <a:sym typeface="Canva Sans"/>
                </a:rPr>
                <a:t>: Job Search System is a Python-based android application that provides devices like Android based smart phones/tablets. Advantages: Cost and Time efficient, portable. Purpose of the System: Job Search System is developed to provide an effective means for the employers to post job openings with required qualification to have a better penetration into the job market and jobseekers to find out the information regarding the current openings in the organization or in the market. In addition, job seekers can view the reviews provided by the applicants to make necessary improvements in their system if needed. Job search System is an android application providing flexibility for the users.</a:t>
              </a:r>
            </a:p>
          </p:txBody>
        </p:sp>
      </p:grpSp>
      <p:grpSp>
        <p:nvGrpSpPr>
          <p:cNvPr name="Group 10" id="10"/>
          <p:cNvGrpSpPr/>
          <p:nvPr/>
        </p:nvGrpSpPr>
        <p:grpSpPr>
          <a:xfrm rot="0">
            <a:off x="17259300" y="9248775"/>
            <a:ext cx="152400" cy="161925"/>
            <a:chOff x="0" y="0"/>
            <a:chExt cx="203200" cy="215900"/>
          </a:xfrm>
        </p:grpSpPr>
        <p:sp>
          <p:nvSpPr>
            <p:cNvPr name="Freeform 11" id="11"/>
            <p:cNvSpPr/>
            <p:nvPr/>
          </p:nvSpPr>
          <p:spPr>
            <a:xfrm flipH="false" flipV="false" rot="0">
              <a:off x="0" y="0"/>
              <a:ext cx="203200" cy="215900"/>
            </a:xfrm>
            <a:custGeom>
              <a:avLst/>
              <a:gdLst/>
              <a:ahLst/>
              <a:cxnLst/>
              <a:rect r="r" b="b" t="t" l="l"/>
              <a:pathLst>
                <a:path h="215900" w="203200">
                  <a:moveTo>
                    <a:pt x="0" y="0"/>
                  </a:moveTo>
                  <a:lnTo>
                    <a:pt x="203200" y="0"/>
                  </a:lnTo>
                  <a:lnTo>
                    <a:pt x="203200" y="215900"/>
                  </a:lnTo>
                  <a:lnTo>
                    <a:pt x="0" y="215900"/>
                  </a:lnTo>
                  <a:close/>
                </a:path>
              </a:pathLst>
            </a:custGeom>
            <a:solidFill>
              <a:srgbClr val="000000">
                <a:alpha val="0"/>
              </a:srgbClr>
            </a:solidFill>
          </p:spPr>
        </p:sp>
        <p:sp>
          <p:nvSpPr>
            <p:cNvPr name="TextBox 12" id="12"/>
            <p:cNvSpPr txBox="true"/>
            <p:nvPr/>
          </p:nvSpPr>
          <p:spPr>
            <a:xfrm>
              <a:off x="0" y="-9525"/>
              <a:ext cx="203200" cy="225425"/>
            </a:xfrm>
            <a:prstGeom prst="rect">
              <a:avLst/>
            </a:prstGeom>
          </p:spPr>
          <p:txBody>
            <a:bodyPr anchor="t" rtlCol="false" tIns="0" lIns="0" bIns="0" rIns="0"/>
            <a:lstStyle/>
            <a:p>
              <a:pPr algn="ctr">
                <a:lnSpc>
                  <a:spcPts val="838"/>
                </a:lnSpc>
              </a:pPr>
              <a:r>
                <a:rPr lang="en-US" sz="600">
                  <a:solidFill>
                    <a:srgbClr val="2B4743"/>
                  </a:solidFill>
                  <a:latin typeface="Canva Sans"/>
                  <a:ea typeface="Canva Sans"/>
                  <a:cs typeface="Canva Sans"/>
                  <a:sym typeface="Canva San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EDEEB"/>
        </a:solidFill>
      </p:bgPr>
    </p:bg>
    <p:spTree>
      <p:nvGrpSpPr>
        <p:cNvPr id="1" name=""/>
        <p:cNvGrpSpPr/>
        <p:nvPr/>
      </p:nvGrpSpPr>
      <p:grpSpPr>
        <a:xfrm>
          <a:off x="0" y="0"/>
          <a:ext cx="0" cy="0"/>
          <a:chOff x="0" y="0"/>
          <a:chExt cx="0" cy="0"/>
        </a:xfrm>
      </p:grpSpPr>
      <p:sp>
        <p:nvSpPr>
          <p:cNvPr name="Freeform 2" id="2"/>
          <p:cNvSpPr/>
          <p:nvPr/>
        </p:nvSpPr>
        <p:spPr>
          <a:xfrm flipH="false" flipV="false" rot="0">
            <a:off x="9385350" y="6387809"/>
            <a:ext cx="4267200" cy="4186755"/>
          </a:xfrm>
          <a:custGeom>
            <a:avLst/>
            <a:gdLst/>
            <a:ahLst/>
            <a:cxnLst/>
            <a:rect r="r" b="b" t="t" l="l"/>
            <a:pathLst>
              <a:path h="4186755" w="4267200">
                <a:moveTo>
                  <a:pt x="0" y="0"/>
                </a:moveTo>
                <a:lnTo>
                  <a:pt x="4267200" y="0"/>
                </a:lnTo>
                <a:lnTo>
                  <a:pt x="4267200" y="4186755"/>
                </a:lnTo>
                <a:lnTo>
                  <a:pt x="0" y="4186755"/>
                </a:lnTo>
                <a:lnTo>
                  <a:pt x="0" y="0"/>
                </a:lnTo>
                <a:close/>
              </a:path>
            </a:pathLst>
          </a:custGeom>
          <a:blipFill>
            <a:blip r:embed="rId2">
              <a:extLst>
                <a:ext uri="{96DAC541-7B7A-43D3-8B79-37D633B846F1}">
                  <asvg:svgBlip xmlns:asvg="http://schemas.microsoft.com/office/drawing/2016/SVG/main" r:embed="rId3"/>
                </a:ext>
              </a:extLst>
            </a:blip>
            <a:stretch>
              <a:fillRect l="-66399" t="0" r="-66399" b="0"/>
            </a:stretch>
          </a:blipFill>
        </p:spPr>
      </p:sp>
      <p:sp>
        <p:nvSpPr>
          <p:cNvPr name="Freeform 3" id="3"/>
          <p:cNvSpPr/>
          <p:nvPr/>
        </p:nvSpPr>
        <p:spPr>
          <a:xfrm flipH="false" flipV="false" rot="0">
            <a:off x="13808125" y="6387809"/>
            <a:ext cx="4267200" cy="4186755"/>
          </a:xfrm>
          <a:custGeom>
            <a:avLst/>
            <a:gdLst/>
            <a:ahLst/>
            <a:cxnLst/>
            <a:rect r="r" b="b" t="t" l="l"/>
            <a:pathLst>
              <a:path h="4186755" w="4267200">
                <a:moveTo>
                  <a:pt x="0" y="0"/>
                </a:moveTo>
                <a:lnTo>
                  <a:pt x="4267200" y="0"/>
                </a:lnTo>
                <a:lnTo>
                  <a:pt x="4267200" y="4186755"/>
                </a:lnTo>
                <a:lnTo>
                  <a:pt x="0" y="4186755"/>
                </a:lnTo>
                <a:lnTo>
                  <a:pt x="0" y="0"/>
                </a:lnTo>
                <a:close/>
              </a:path>
            </a:pathLst>
          </a:custGeom>
          <a:blipFill>
            <a:blip r:embed="rId2">
              <a:extLst>
                <a:ext uri="{96DAC541-7B7A-43D3-8B79-37D633B846F1}">
                  <asvg:svgBlip xmlns:asvg="http://schemas.microsoft.com/office/drawing/2016/SVG/main" r:embed="rId3"/>
                </a:ext>
              </a:extLst>
            </a:blip>
            <a:stretch>
              <a:fillRect l="-66399" t="0" r="-66399" b="0"/>
            </a:stretch>
          </a:blipFill>
        </p:spPr>
      </p:sp>
      <p:grpSp>
        <p:nvGrpSpPr>
          <p:cNvPr name="Group 4" id="4"/>
          <p:cNvGrpSpPr/>
          <p:nvPr/>
        </p:nvGrpSpPr>
        <p:grpSpPr>
          <a:xfrm rot="0">
            <a:off x="1589447" y="1481724"/>
            <a:ext cx="7366296" cy="2221706"/>
            <a:chOff x="0" y="0"/>
            <a:chExt cx="9821728" cy="2962275"/>
          </a:xfrm>
        </p:grpSpPr>
        <p:sp>
          <p:nvSpPr>
            <p:cNvPr name="Freeform 5" id="5"/>
            <p:cNvSpPr/>
            <p:nvPr/>
          </p:nvSpPr>
          <p:spPr>
            <a:xfrm flipH="false" flipV="false" rot="0">
              <a:off x="0" y="0"/>
              <a:ext cx="9821728" cy="2962275"/>
            </a:xfrm>
            <a:custGeom>
              <a:avLst/>
              <a:gdLst/>
              <a:ahLst/>
              <a:cxnLst/>
              <a:rect r="r" b="b" t="t" l="l"/>
              <a:pathLst>
                <a:path h="2962275" w="9821728">
                  <a:moveTo>
                    <a:pt x="0" y="0"/>
                  </a:moveTo>
                  <a:lnTo>
                    <a:pt x="9821728" y="0"/>
                  </a:lnTo>
                  <a:lnTo>
                    <a:pt x="9821728" y="2962275"/>
                  </a:lnTo>
                  <a:lnTo>
                    <a:pt x="0" y="2962275"/>
                  </a:lnTo>
                  <a:close/>
                </a:path>
              </a:pathLst>
            </a:custGeom>
            <a:solidFill>
              <a:srgbClr val="000000">
                <a:alpha val="0"/>
              </a:srgbClr>
            </a:solidFill>
          </p:spPr>
        </p:sp>
        <p:sp>
          <p:nvSpPr>
            <p:cNvPr name="TextBox 6" id="6"/>
            <p:cNvSpPr txBox="true"/>
            <p:nvPr/>
          </p:nvSpPr>
          <p:spPr>
            <a:xfrm>
              <a:off x="0" y="-142875"/>
              <a:ext cx="9821728" cy="3105150"/>
            </a:xfrm>
            <a:prstGeom prst="rect">
              <a:avLst/>
            </a:prstGeom>
          </p:spPr>
          <p:txBody>
            <a:bodyPr anchor="t" rtlCol="false" tIns="0" lIns="0" bIns="0" rIns="0"/>
            <a:lstStyle/>
            <a:p>
              <a:pPr algn="l">
                <a:lnSpc>
                  <a:spcPts val="8399"/>
                </a:lnSpc>
              </a:pPr>
              <a:r>
                <a:rPr lang="en-US" sz="6998" b="true">
                  <a:solidFill>
                    <a:srgbClr val="2B4743"/>
                  </a:solidFill>
                  <a:latin typeface="Calibri (MS) Bold"/>
                  <a:ea typeface="Calibri (MS) Bold"/>
                  <a:cs typeface="Calibri (MS) Bold"/>
                  <a:sym typeface="Calibri (MS) Bold"/>
                </a:rPr>
                <a:t>SYSTEM REQUIREMENTS</a:t>
              </a:r>
            </a:p>
          </p:txBody>
        </p:sp>
      </p:grpSp>
      <p:grpSp>
        <p:nvGrpSpPr>
          <p:cNvPr name="Group 7" id="7"/>
          <p:cNvGrpSpPr/>
          <p:nvPr/>
        </p:nvGrpSpPr>
        <p:grpSpPr>
          <a:xfrm rot="0">
            <a:off x="1589447" y="3959592"/>
            <a:ext cx="7366296" cy="4738528"/>
            <a:chOff x="0" y="0"/>
            <a:chExt cx="9821728" cy="6318038"/>
          </a:xfrm>
        </p:grpSpPr>
        <p:sp>
          <p:nvSpPr>
            <p:cNvPr name="Freeform 8" id="8"/>
            <p:cNvSpPr/>
            <p:nvPr/>
          </p:nvSpPr>
          <p:spPr>
            <a:xfrm flipH="false" flipV="false" rot="0">
              <a:off x="0" y="0"/>
              <a:ext cx="9821728" cy="6318038"/>
            </a:xfrm>
            <a:custGeom>
              <a:avLst/>
              <a:gdLst/>
              <a:ahLst/>
              <a:cxnLst/>
              <a:rect r="r" b="b" t="t" l="l"/>
              <a:pathLst>
                <a:path h="6318038" w="9821728">
                  <a:moveTo>
                    <a:pt x="0" y="0"/>
                  </a:moveTo>
                  <a:lnTo>
                    <a:pt x="9821728" y="0"/>
                  </a:lnTo>
                  <a:lnTo>
                    <a:pt x="9821728" y="6318038"/>
                  </a:lnTo>
                  <a:lnTo>
                    <a:pt x="0" y="6318038"/>
                  </a:lnTo>
                  <a:close/>
                </a:path>
              </a:pathLst>
            </a:custGeom>
            <a:solidFill>
              <a:srgbClr val="000000">
                <a:alpha val="0"/>
              </a:srgbClr>
            </a:solidFill>
          </p:spPr>
        </p:sp>
        <p:sp>
          <p:nvSpPr>
            <p:cNvPr name="TextBox 9" id="9"/>
            <p:cNvSpPr txBox="true"/>
            <p:nvPr/>
          </p:nvSpPr>
          <p:spPr>
            <a:xfrm>
              <a:off x="0" y="-85725"/>
              <a:ext cx="9821728" cy="6403763"/>
            </a:xfrm>
            <a:prstGeom prst="rect">
              <a:avLst/>
            </a:prstGeom>
          </p:spPr>
          <p:txBody>
            <a:bodyPr anchor="t" rtlCol="false" tIns="0" lIns="0" bIns="0" rIns="0"/>
            <a:lstStyle/>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HARDWARE REQUIREMENTS:</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Processor			: 	Dual Core CPU (2.0 GHz)</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Storage			: 	50 GB HDD.</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Ram				:	4 GB</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SOFTWARE REQUIREMENTS:</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Operating system 		: 	Windows 10/11</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Coding Language		:	python</a:t>
              </a:r>
            </a:p>
            <a:p>
              <a:pPr algn="l" marL="731521" indent="-243840" lvl="2">
                <a:lnSpc>
                  <a:spcPts val="4160"/>
                </a:lnSpc>
                <a:buFont typeface="Arial"/>
                <a:buChar char="⚬"/>
              </a:pPr>
              <a:r>
                <a:rPr lang="en-US" sz="3200">
                  <a:solidFill>
                    <a:srgbClr val="2B4743"/>
                  </a:solidFill>
                  <a:latin typeface="Calibri (MS)"/>
                  <a:ea typeface="Calibri (MS)"/>
                  <a:cs typeface="Calibri (MS)"/>
                  <a:sym typeface="Calibri (MS)"/>
                </a:rPr>
                <a:t>Database			:	MYSQL , Firebase</a:t>
              </a:r>
            </a:p>
          </p:txBody>
        </p:sp>
      </p:grpSp>
      <p:grpSp>
        <p:nvGrpSpPr>
          <p:cNvPr name="Group 10" id="10"/>
          <p:cNvGrpSpPr/>
          <p:nvPr/>
        </p:nvGrpSpPr>
        <p:grpSpPr>
          <a:xfrm rot="0">
            <a:off x="17259300" y="9248775"/>
            <a:ext cx="152400" cy="161925"/>
            <a:chOff x="0" y="0"/>
            <a:chExt cx="203200" cy="215900"/>
          </a:xfrm>
        </p:grpSpPr>
        <p:sp>
          <p:nvSpPr>
            <p:cNvPr name="Freeform 11" id="11"/>
            <p:cNvSpPr/>
            <p:nvPr/>
          </p:nvSpPr>
          <p:spPr>
            <a:xfrm flipH="false" flipV="false" rot="0">
              <a:off x="0" y="0"/>
              <a:ext cx="203200" cy="215900"/>
            </a:xfrm>
            <a:custGeom>
              <a:avLst/>
              <a:gdLst/>
              <a:ahLst/>
              <a:cxnLst/>
              <a:rect r="r" b="b" t="t" l="l"/>
              <a:pathLst>
                <a:path h="215900" w="203200">
                  <a:moveTo>
                    <a:pt x="0" y="0"/>
                  </a:moveTo>
                  <a:lnTo>
                    <a:pt x="203200" y="0"/>
                  </a:lnTo>
                  <a:lnTo>
                    <a:pt x="203200" y="215900"/>
                  </a:lnTo>
                  <a:lnTo>
                    <a:pt x="0" y="215900"/>
                  </a:lnTo>
                  <a:close/>
                </a:path>
              </a:pathLst>
            </a:custGeom>
            <a:solidFill>
              <a:srgbClr val="000000">
                <a:alpha val="0"/>
              </a:srgbClr>
            </a:solidFill>
          </p:spPr>
        </p:sp>
        <p:sp>
          <p:nvSpPr>
            <p:cNvPr name="TextBox 12" id="12"/>
            <p:cNvSpPr txBox="true"/>
            <p:nvPr/>
          </p:nvSpPr>
          <p:spPr>
            <a:xfrm>
              <a:off x="0" y="-9525"/>
              <a:ext cx="203200" cy="225425"/>
            </a:xfrm>
            <a:prstGeom prst="rect">
              <a:avLst/>
            </a:prstGeom>
          </p:spPr>
          <p:txBody>
            <a:bodyPr anchor="t" rtlCol="false" tIns="0" lIns="0" bIns="0" rIns="0"/>
            <a:lstStyle/>
            <a:p>
              <a:pPr algn="ctr">
                <a:lnSpc>
                  <a:spcPts val="838"/>
                </a:lnSpc>
              </a:pPr>
              <a:r>
                <a:rPr lang="en-US" sz="600">
                  <a:solidFill>
                    <a:srgbClr val="FFD3DB"/>
                  </a:solidFill>
                  <a:latin typeface="Canva Sans"/>
                  <a:ea typeface="Canva Sans"/>
                  <a:cs typeface="Canva Sans"/>
                  <a:sym typeface="Canva Sans"/>
                </a:rPr>
                <a:t>7</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CEDEEB"/>
        </a:solidFill>
      </p:bgPr>
    </p:bg>
    <p:spTree>
      <p:nvGrpSpPr>
        <p:cNvPr id="1" name=""/>
        <p:cNvGrpSpPr/>
        <p:nvPr/>
      </p:nvGrpSpPr>
      <p:grpSpPr>
        <a:xfrm>
          <a:off x="0" y="0"/>
          <a:ext cx="0" cy="0"/>
          <a:chOff x="0" y="0"/>
          <a:chExt cx="0" cy="0"/>
        </a:xfrm>
      </p:grpSpPr>
      <p:grpSp>
        <p:nvGrpSpPr>
          <p:cNvPr name="Group 2" id="2"/>
          <p:cNvGrpSpPr/>
          <p:nvPr/>
        </p:nvGrpSpPr>
        <p:grpSpPr>
          <a:xfrm rot="0">
            <a:off x="1834714" y="1701573"/>
            <a:ext cx="14618572" cy="1301750"/>
            <a:chOff x="0" y="0"/>
            <a:chExt cx="19491429" cy="1735667"/>
          </a:xfrm>
        </p:grpSpPr>
        <p:sp>
          <p:nvSpPr>
            <p:cNvPr name="Freeform 3" id="3"/>
            <p:cNvSpPr/>
            <p:nvPr/>
          </p:nvSpPr>
          <p:spPr>
            <a:xfrm flipH="false" flipV="false" rot="0">
              <a:off x="0" y="0"/>
              <a:ext cx="19491429" cy="1735667"/>
            </a:xfrm>
            <a:custGeom>
              <a:avLst/>
              <a:gdLst/>
              <a:ahLst/>
              <a:cxnLst/>
              <a:rect r="r" b="b" t="t" l="l"/>
              <a:pathLst>
                <a:path h="1735667" w="19491429">
                  <a:moveTo>
                    <a:pt x="0" y="0"/>
                  </a:moveTo>
                  <a:lnTo>
                    <a:pt x="19491429" y="0"/>
                  </a:lnTo>
                  <a:lnTo>
                    <a:pt x="19491429" y="1735667"/>
                  </a:lnTo>
                  <a:lnTo>
                    <a:pt x="0" y="1735667"/>
                  </a:lnTo>
                  <a:close/>
                </a:path>
              </a:pathLst>
            </a:custGeom>
            <a:solidFill>
              <a:srgbClr val="000000">
                <a:alpha val="0"/>
              </a:srgbClr>
            </a:solidFill>
          </p:spPr>
        </p:sp>
        <p:sp>
          <p:nvSpPr>
            <p:cNvPr name="TextBox 4" id="4"/>
            <p:cNvSpPr txBox="true"/>
            <p:nvPr/>
          </p:nvSpPr>
          <p:spPr>
            <a:xfrm>
              <a:off x="0" y="-85725"/>
              <a:ext cx="19491429" cy="1821392"/>
            </a:xfrm>
            <a:prstGeom prst="rect">
              <a:avLst/>
            </a:prstGeom>
          </p:spPr>
          <p:txBody>
            <a:bodyPr anchor="t" rtlCol="false" tIns="0" lIns="0" bIns="0" rIns="0"/>
            <a:lstStyle/>
            <a:p>
              <a:pPr algn="ctr">
                <a:lnSpc>
                  <a:spcPts val="8800"/>
                </a:lnSpc>
              </a:pPr>
              <a:r>
                <a:rPr lang="en-US" sz="8000" b="true">
                  <a:solidFill>
                    <a:srgbClr val="2B4743"/>
                  </a:solidFill>
                  <a:latin typeface="Times New Roman Bold"/>
                  <a:ea typeface="Times New Roman Bold"/>
                  <a:cs typeface="Times New Roman Bold"/>
                  <a:sym typeface="Times New Roman Bold"/>
                </a:rPr>
                <a:t>CONCLUSION</a:t>
              </a:r>
            </a:p>
          </p:txBody>
        </p:sp>
      </p:grpSp>
      <p:grpSp>
        <p:nvGrpSpPr>
          <p:cNvPr name="Group 5" id="5"/>
          <p:cNvGrpSpPr/>
          <p:nvPr/>
        </p:nvGrpSpPr>
        <p:grpSpPr>
          <a:xfrm rot="0">
            <a:off x="1028700" y="3764053"/>
            <a:ext cx="16230600" cy="7417473"/>
            <a:chOff x="0" y="0"/>
            <a:chExt cx="21640800" cy="9889965"/>
          </a:xfrm>
        </p:grpSpPr>
        <p:sp>
          <p:nvSpPr>
            <p:cNvPr name="Freeform 6" id="6"/>
            <p:cNvSpPr/>
            <p:nvPr/>
          </p:nvSpPr>
          <p:spPr>
            <a:xfrm flipH="false" flipV="false" rot="0">
              <a:off x="0" y="0"/>
              <a:ext cx="21640800" cy="9889965"/>
            </a:xfrm>
            <a:custGeom>
              <a:avLst/>
              <a:gdLst/>
              <a:ahLst/>
              <a:cxnLst/>
              <a:rect r="r" b="b" t="t" l="l"/>
              <a:pathLst>
                <a:path h="9889965" w="21640800">
                  <a:moveTo>
                    <a:pt x="0" y="0"/>
                  </a:moveTo>
                  <a:lnTo>
                    <a:pt x="21640800" y="0"/>
                  </a:lnTo>
                  <a:lnTo>
                    <a:pt x="21640800" y="9889965"/>
                  </a:lnTo>
                  <a:lnTo>
                    <a:pt x="0" y="9889965"/>
                  </a:lnTo>
                  <a:close/>
                </a:path>
              </a:pathLst>
            </a:custGeom>
            <a:solidFill>
              <a:srgbClr val="000000">
                <a:alpha val="0"/>
              </a:srgbClr>
            </a:solidFill>
          </p:spPr>
        </p:sp>
        <p:sp>
          <p:nvSpPr>
            <p:cNvPr name="TextBox 7" id="7"/>
            <p:cNvSpPr txBox="true"/>
            <p:nvPr/>
          </p:nvSpPr>
          <p:spPr>
            <a:xfrm>
              <a:off x="0" y="-200025"/>
              <a:ext cx="21640800" cy="10089990"/>
            </a:xfrm>
            <a:prstGeom prst="rect">
              <a:avLst/>
            </a:prstGeom>
          </p:spPr>
          <p:txBody>
            <a:bodyPr anchor="t" rtlCol="false" tIns="0" lIns="0" bIns="0" rIns="0"/>
            <a:lstStyle/>
            <a:p>
              <a:pPr algn="just">
                <a:lnSpc>
                  <a:spcPts val="5198"/>
                </a:lnSpc>
              </a:pPr>
              <a:r>
                <a:rPr lang="en-US" sz="3094">
                  <a:solidFill>
                    <a:srgbClr val="2B4743"/>
                  </a:solidFill>
                  <a:latin typeface="Calibri (MS)"/>
                  <a:ea typeface="Calibri (MS)"/>
                  <a:cs typeface="Calibri (MS)"/>
                  <a:sym typeface="Calibri (MS)"/>
                </a:rPr>
                <a:t>The Intelligent Agent-Based Job Search System offers a smart, efficient, and accessible solution to the limitations of traditional and web-based job search platforms. By leveraging mobile technology and intelligent agents, this system enables both job seekers and employers to interact seamlessly, especially in underserved or rural areas . The app simplifies the job search process by considering user preferences such as location, skills, and compensation, while also providing job recommendations and reviews. Its offline capability and user-friendly design make it especially useful for individuals seeking quick, local, and small-scale employment opportunities.</a:t>
              </a:r>
            </a:p>
          </p:txBody>
        </p:sp>
      </p:grpSp>
      <p:grpSp>
        <p:nvGrpSpPr>
          <p:cNvPr name="Group 8" id="8"/>
          <p:cNvGrpSpPr/>
          <p:nvPr/>
        </p:nvGrpSpPr>
        <p:grpSpPr>
          <a:xfrm rot="0">
            <a:off x="17259300" y="9248775"/>
            <a:ext cx="152400" cy="161925"/>
            <a:chOff x="0" y="0"/>
            <a:chExt cx="203200" cy="215900"/>
          </a:xfrm>
        </p:grpSpPr>
        <p:sp>
          <p:nvSpPr>
            <p:cNvPr name="Freeform 9" id="9"/>
            <p:cNvSpPr/>
            <p:nvPr/>
          </p:nvSpPr>
          <p:spPr>
            <a:xfrm flipH="false" flipV="false" rot="0">
              <a:off x="0" y="0"/>
              <a:ext cx="203200" cy="215900"/>
            </a:xfrm>
            <a:custGeom>
              <a:avLst/>
              <a:gdLst/>
              <a:ahLst/>
              <a:cxnLst/>
              <a:rect r="r" b="b" t="t" l="l"/>
              <a:pathLst>
                <a:path h="215900" w="203200">
                  <a:moveTo>
                    <a:pt x="0" y="0"/>
                  </a:moveTo>
                  <a:lnTo>
                    <a:pt x="203200" y="0"/>
                  </a:lnTo>
                  <a:lnTo>
                    <a:pt x="203200" y="215900"/>
                  </a:lnTo>
                  <a:lnTo>
                    <a:pt x="0" y="215900"/>
                  </a:lnTo>
                  <a:close/>
                </a:path>
              </a:pathLst>
            </a:custGeom>
            <a:solidFill>
              <a:srgbClr val="000000">
                <a:alpha val="0"/>
              </a:srgbClr>
            </a:solidFill>
          </p:spPr>
        </p:sp>
        <p:sp>
          <p:nvSpPr>
            <p:cNvPr name="TextBox 10" id="10"/>
            <p:cNvSpPr txBox="true"/>
            <p:nvPr/>
          </p:nvSpPr>
          <p:spPr>
            <a:xfrm>
              <a:off x="0" y="-9525"/>
              <a:ext cx="203200" cy="225425"/>
            </a:xfrm>
            <a:prstGeom prst="rect">
              <a:avLst/>
            </a:prstGeom>
          </p:spPr>
          <p:txBody>
            <a:bodyPr anchor="t" rtlCol="false" tIns="0" lIns="0" bIns="0" rIns="0"/>
            <a:lstStyle/>
            <a:p>
              <a:pPr algn="ctr">
                <a:lnSpc>
                  <a:spcPts val="838"/>
                </a:lnSpc>
              </a:pPr>
              <a:r>
                <a:rPr lang="en-US" sz="600">
                  <a:solidFill>
                    <a:srgbClr val="2B4743"/>
                  </a:solidFill>
                  <a:latin typeface="Canva Sans"/>
                  <a:ea typeface="Canva Sans"/>
                  <a:cs typeface="Canva Sans"/>
                  <a:sym typeface="Canva San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EDEEB"/>
        </a:solidFill>
      </p:bgPr>
    </p:bg>
    <p:spTree>
      <p:nvGrpSpPr>
        <p:cNvPr id="1" name=""/>
        <p:cNvGrpSpPr/>
        <p:nvPr/>
      </p:nvGrpSpPr>
      <p:grpSpPr>
        <a:xfrm>
          <a:off x="0" y="0"/>
          <a:ext cx="0" cy="0"/>
          <a:chOff x="0" y="0"/>
          <a:chExt cx="0" cy="0"/>
        </a:xfrm>
      </p:grpSpPr>
      <p:grpSp>
        <p:nvGrpSpPr>
          <p:cNvPr name="Group 2" id="2"/>
          <p:cNvGrpSpPr/>
          <p:nvPr/>
        </p:nvGrpSpPr>
        <p:grpSpPr>
          <a:xfrm rot="0">
            <a:off x="914697" y="793573"/>
            <a:ext cx="16458607" cy="8699854"/>
            <a:chOff x="0" y="0"/>
            <a:chExt cx="21944809" cy="11599805"/>
          </a:xfrm>
        </p:grpSpPr>
        <p:sp>
          <p:nvSpPr>
            <p:cNvPr name="Freeform 3" id="3"/>
            <p:cNvSpPr/>
            <p:nvPr/>
          </p:nvSpPr>
          <p:spPr>
            <a:xfrm flipH="false" flipV="false" rot="0">
              <a:off x="0" y="0"/>
              <a:ext cx="21944837" cy="11599799"/>
            </a:xfrm>
            <a:custGeom>
              <a:avLst/>
              <a:gdLst/>
              <a:ahLst/>
              <a:cxnLst/>
              <a:rect r="r" b="b" t="t" l="l"/>
              <a:pathLst>
                <a:path h="11599799" w="21944837">
                  <a:moveTo>
                    <a:pt x="0" y="0"/>
                  </a:moveTo>
                  <a:lnTo>
                    <a:pt x="0" y="11599799"/>
                  </a:lnTo>
                  <a:lnTo>
                    <a:pt x="21944837" y="11599799"/>
                  </a:lnTo>
                  <a:lnTo>
                    <a:pt x="21944837" y="0"/>
                  </a:lnTo>
                  <a:lnTo>
                    <a:pt x="0" y="0"/>
                  </a:lnTo>
                  <a:close/>
                  <a:moveTo>
                    <a:pt x="21783167" y="11438128"/>
                  </a:moveTo>
                  <a:lnTo>
                    <a:pt x="158242" y="11438128"/>
                  </a:lnTo>
                  <a:lnTo>
                    <a:pt x="158242" y="158242"/>
                  </a:lnTo>
                  <a:lnTo>
                    <a:pt x="21783167" y="158242"/>
                  </a:lnTo>
                  <a:lnTo>
                    <a:pt x="21783167" y="11438128"/>
                  </a:lnTo>
                  <a:close/>
                </a:path>
              </a:pathLst>
            </a:custGeom>
            <a:solidFill>
              <a:srgbClr val="000000"/>
            </a:solidFill>
          </p:spPr>
        </p:sp>
      </p:grpSp>
      <p:grpSp>
        <p:nvGrpSpPr>
          <p:cNvPr name="Group 4" id="4"/>
          <p:cNvGrpSpPr/>
          <p:nvPr/>
        </p:nvGrpSpPr>
        <p:grpSpPr>
          <a:xfrm rot="0">
            <a:off x="3396193" y="4499247"/>
            <a:ext cx="12741423" cy="3366096"/>
            <a:chOff x="0" y="0"/>
            <a:chExt cx="16988564" cy="4488128"/>
          </a:xfrm>
        </p:grpSpPr>
        <p:sp>
          <p:nvSpPr>
            <p:cNvPr name="Freeform 5" id="5"/>
            <p:cNvSpPr/>
            <p:nvPr/>
          </p:nvSpPr>
          <p:spPr>
            <a:xfrm flipH="false" flipV="false" rot="0">
              <a:off x="0" y="0"/>
              <a:ext cx="16988565" cy="4488128"/>
            </a:xfrm>
            <a:custGeom>
              <a:avLst/>
              <a:gdLst/>
              <a:ahLst/>
              <a:cxnLst/>
              <a:rect r="r" b="b" t="t" l="l"/>
              <a:pathLst>
                <a:path h="4488128" w="16988565">
                  <a:moveTo>
                    <a:pt x="0" y="0"/>
                  </a:moveTo>
                  <a:lnTo>
                    <a:pt x="16988565" y="0"/>
                  </a:lnTo>
                  <a:lnTo>
                    <a:pt x="16988565" y="4488128"/>
                  </a:lnTo>
                  <a:lnTo>
                    <a:pt x="0" y="4488128"/>
                  </a:lnTo>
                  <a:close/>
                </a:path>
              </a:pathLst>
            </a:custGeom>
            <a:solidFill>
              <a:srgbClr val="000000">
                <a:alpha val="0"/>
              </a:srgbClr>
            </a:solidFill>
          </p:spPr>
        </p:sp>
        <p:sp>
          <p:nvSpPr>
            <p:cNvPr name="TextBox 6" id="6"/>
            <p:cNvSpPr txBox="true"/>
            <p:nvPr/>
          </p:nvSpPr>
          <p:spPr>
            <a:xfrm>
              <a:off x="0" y="-47625"/>
              <a:ext cx="16988564" cy="4535753"/>
            </a:xfrm>
            <a:prstGeom prst="rect">
              <a:avLst/>
            </a:prstGeom>
          </p:spPr>
          <p:txBody>
            <a:bodyPr anchor="t" rtlCol="false" tIns="0" lIns="0" bIns="0" rIns="0"/>
            <a:lstStyle/>
            <a:p>
              <a:pPr algn="l">
                <a:lnSpc>
                  <a:spcPts val="3846"/>
                </a:lnSpc>
              </a:pPr>
              <a:r>
                <a:rPr lang="en-US" sz="2747">
                  <a:solidFill>
                    <a:srgbClr val="2B4743"/>
                  </a:solidFill>
                  <a:latin typeface="Canva Sans"/>
                  <a:ea typeface="Canva Sans"/>
                  <a:cs typeface="Canva Sans"/>
                  <a:sym typeface="Canva Sans"/>
                </a:rPr>
                <a:t>[1] Mochol , Malgorzata, et al. "Improving the accuracy of job search with semantic techniques." 2007.    </a:t>
              </a:r>
            </a:p>
            <a:p>
              <a:pPr algn="l">
                <a:lnSpc>
                  <a:spcPts val="3846"/>
                </a:lnSpc>
              </a:pPr>
              <a:r>
                <a:rPr lang="en-US" sz="2747">
                  <a:solidFill>
                    <a:srgbClr val="2B4743"/>
                  </a:solidFill>
                  <a:latin typeface="Canva Sans"/>
                  <a:ea typeface="Canva Sans"/>
                  <a:cs typeface="Canva Sans"/>
                  <a:sym typeface="Canva Sans"/>
                </a:rPr>
                <a:t>[2] Franklin, Stan, and Art Graesser . "Is it an Agent, or just a Program? A Taxonomy for Autonomous Agents." 1996.    </a:t>
              </a:r>
            </a:p>
            <a:p>
              <a:pPr algn="l">
                <a:lnSpc>
                  <a:spcPts val="3846"/>
                </a:lnSpc>
              </a:pPr>
              <a:r>
                <a:rPr lang="en-US" sz="2747">
                  <a:solidFill>
                    <a:srgbClr val="2B4743"/>
                  </a:solidFill>
                  <a:latin typeface="Canva Sans"/>
                  <a:ea typeface="Canva Sans"/>
                  <a:cs typeface="Canva Sans"/>
                  <a:sym typeface="Canva Sans"/>
                </a:rPr>
                <a:t>[3] Jennings, N. R., and M. Wooldridge. "Applications of Intelligent Agents." 1998.   </a:t>
              </a:r>
            </a:p>
            <a:p>
              <a:pPr algn="l">
                <a:lnSpc>
                  <a:spcPts val="3846"/>
                </a:lnSpc>
              </a:pPr>
              <a:r>
                <a:rPr lang="en-US" sz="2747">
                  <a:solidFill>
                    <a:srgbClr val="2B4743"/>
                  </a:solidFill>
                  <a:latin typeface="Canva Sans"/>
                  <a:ea typeface="Canva Sans"/>
                  <a:cs typeface="Canva Sans"/>
                  <a:sym typeface="Canva Sans"/>
                </a:rPr>
                <a:t> [4] Hayes-Roth, B. "An Architecture for Adaptive Intelligent Systems." 1995.</a:t>
              </a:r>
            </a:p>
          </p:txBody>
        </p:sp>
      </p:grpSp>
      <p:grpSp>
        <p:nvGrpSpPr>
          <p:cNvPr name="Group 7" id="7"/>
          <p:cNvGrpSpPr/>
          <p:nvPr/>
        </p:nvGrpSpPr>
        <p:grpSpPr>
          <a:xfrm rot="0">
            <a:off x="3396193" y="2421656"/>
            <a:ext cx="12741423" cy="1441412"/>
            <a:chOff x="0" y="0"/>
            <a:chExt cx="16988564" cy="1921882"/>
          </a:xfrm>
        </p:grpSpPr>
        <p:sp>
          <p:nvSpPr>
            <p:cNvPr name="Freeform 8" id="8"/>
            <p:cNvSpPr/>
            <p:nvPr/>
          </p:nvSpPr>
          <p:spPr>
            <a:xfrm flipH="false" flipV="false" rot="0">
              <a:off x="0" y="0"/>
              <a:ext cx="16988565" cy="1921882"/>
            </a:xfrm>
            <a:custGeom>
              <a:avLst/>
              <a:gdLst/>
              <a:ahLst/>
              <a:cxnLst/>
              <a:rect r="r" b="b" t="t" l="l"/>
              <a:pathLst>
                <a:path h="1921882" w="16988565">
                  <a:moveTo>
                    <a:pt x="0" y="0"/>
                  </a:moveTo>
                  <a:lnTo>
                    <a:pt x="16988565" y="0"/>
                  </a:lnTo>
                  <a:lnTo>
                    <a:pt x="16988565" y="1921882"/>
                  </a:lnTo>
                  <a:lnTo>
                    <a:pt x="0" y="1921882"/>
                  </a:lnTo>
                  <a:close/>
                </a:path>
              </a:pathLst>
            </a:custGeom>
            <a:solidFill>
              <a:srgbClr val="000000">
                <a:alpha val="0"/>
              </a:srgbClr>
            </a:solidFill>
          </p:spPr>
        </p:sp>
        <p:sp>
          <p:nvSpPr>
            <p:cNvPr name="TextBox 9" id="9"/>
            <p:cNvSpPr txBox="true"/>
            <p:nvPr/>
          </p:nvSpPr>
          <p:spPr>
            <a:xfrm>
              <a:off x="0" y="0"/>
              <a:ext cx="16988564" cy="1921882"/>
            </a:xfrm>
            <a:prstGeom prst="rect">
              <a:avLst/>
            </a:prstGeom>
          </p:spPr>
          <p:txBody>
            <a:bodyPr anchor="t" rtlCol="false" tIns="0" lIns="0" bIns="0" rIns="0"/>
            <a:lstStyle/>
            <a:p>
              <a:pPr algn="l">
                <a:lnSpc>
                  <a:spcPts val="9499"/>
                </a:lnSpc>
              </a:pPr>
              <a:r>
                <a:rPr lang="en-US" sz="9499" b="true">
                  <a:solidFill>
                    <a:srgbClr val="2B4743"/>
                  </a:solidFill>
                  <a:latin typeface="Times New Roman Bold"/>
                  <a:ea typeface="Times New Roman Bold"/>
                  <a:cs typeface="Times New Roman Bold"/>
                  <a:sym typeface="Times New Roman Bold"/>
                </a:rPr>
                <a:t>REFERENCES</a:t>
              </a:r>
            </a:p>
          </p:txBody>
        </p:sp>
      </p:grpSp>
      <p:sp>
        <p:nvSpPr>
          <p:cNvPr name="Freeform 10" id="10"/>
          <p:cNvSpPr/>
          <p:nvPr/>
        </p:nvSpPr>
        <p:spPr>
          <a:xfrm flipH="false" flipV="false" rot="0">
            <a:off x="1266626" y="3777249"/>
            <a:ext cx="1367991" cy="2732501"/>
          </a:xfrm>
          <a:custGeom>
            <a:avLst/>
            <a:gdLst/>
            <a:ahLst/>
            <a:cxnLst/>
            <a:rect r="r" b="b" t="t" l="l"/>
            <a:pathLst>
              <a:path h="2732501" w="1367991">
                <a:moveTo>
                  <a:pt x="0" y="0"/>
                </a:moveTo>
                <a:lnTo>
                  <a:pt x="1367991" y="0"/>
                </a:lnTo>
                <a:lnTo>
                  <a:pt x="1367991" y="2732501"/>
                </a:lnTo>
                <a:lnTo>
                  <a:pt x="0" y="2732501"/>
                </a:lnTo>
                <a:lnTo>
                  <a:pt x="0" y="0"/>
                </a:lnTo>
                <a:close/>
              </a:path>
            </a:pathLst>
          </a:custGeom>
          <a:blipFill>
            <a:blip r:embed="rId2">
              <a:extLst>
                <a:ext uri="{96DAC541-7B7A-43D3-8B79-37D633B846F1}">
                  <asvg:svgBlip xmlns:asvg="http://schemas.microsoft.com/office/drawing/2016/SVG/main" r:embed="rId3"/>
                </a:ext>
              </a:extLst>
            </a:blip>
            <a:stretch>
              <a:fillRect l="-110" t="0" r="-110" b="0"/>
            </a:stretch>
          </a:blipFill>
        </p:spPr>
      </p:sp>
      <p:grpSp>
        <p:nvGrpSpPr>
          <p:cNvPr name="Group 11" id="11"/>
          <p:cNvGrpSpPr/>
          <p:nvPr/>
        </p:nvGrpSpPr>
        <p:grpSpPr>
          <a:xfrm rot="0">
            <a:off x="17259300" y="9248775"/>
            <a:ext cx="152400" cy="161925"/>
            <a:chOff x="0" y="0"/>
            <a:chExt cx="203200" cy="215900"/>
          </a:xfrm>
        </p:grpSpPr>
        <p:sp>
          <p:nvSpPr>
            <p:cNvPr name="Freeform 12" id="12"/>
            <p:cNvSpPr/>
            <p:nvPr/>
          </p:nvSpPr>
          <p:spPr>
            <a:xfrm flipH="false" flipV="false" rot="0">
              <a:off x="0" y="0"/>
              <a:ext cx="203200" cy="215900"/>
            </a:xfrm>
            <a:custGeom>
              <a:avLst/>
              <a:gdLst/>
              <a:ahLst/>
              <a:cxnLst/>
              <a:rect r="r" b="b" t="t" l="l"/>
              <a:pathLst>
                <a:path h="215900" w="203200">
                  <a:moveTo>
                    <a:pt x="0" y="0"/>
                  </a:moveTo>
                  <a:lnTo>
                    <a:pt x="203200" y="0"/>
                  </a:lnTo>
                  <a:lnTo>
                    <a:pt x="203200" y="215900"/>
                  </a:lnTo>
                  <a:lnTo>
                    <a:pt x="0" y="215900"/>
                  </a:lnTo>
                  <a:close/>
                </a:path>
              </a:pathLst>
            </a:custGeom>
            <a:solidFill>
              <a:srgbClr val="000000">
                <a:alpha val="0"/>
              </a:srgbClr>
            </a:solidFill>
          </p:spPr>
        </p:sp>
        <p:sp>
          <p:nvSpPr>
            <p:cNvPr name="TextBox 13" id="13"/>
            <p:cNvSpPr txBox="true"/>
            <p:nvPr/>
          </p:nvSpPr>
          <p:spPr>
            <a:xfrm>
              <a:off x="0" y="-9525"/>
              <a:ext cx="203200" cy="225425"/>
            </a:xfrm>
            <a:prstGeom prst="rect">
              <a:avLst/>
            </a:prstGeom>
          </p:spPr>
          <p:txBody>
            <a:bodyPr anchor="t" rtlCol="false" tIns="0" lIns="0" bIns="0" rIns="0"/>
            <a:lstStyle/>
            <a:p>
              <a:pPr algn="ctr">
                <a:lnSpc>
                  <a:spcPts val="838"/>
                </a:lnSpc>
              </a:pPr>
              <a:r>
                <a:rPr lang="en-US" sz="600">
                  <a:solidFill>
                    <a:srgbClr val="2B4743"/>
                  </a:solidFill>
                  <a:latin typeface="Canva Sans"/>
                  <a:ea typeface="Canva Sans"/>
                  <a:cs typeface="Canva Sans"/>
                  <a:sym typeface="Canva San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2"/>
              <a:stretch>
                <a:fillRect l="0" t="0" r="0" b="0"/>
              </a:stretch>
            </a:blipFill>
          </p:spPr>
        </p:sp>
      </p:grpSp>
      <p:grpSp>
        <p:nvGrpSpPr>
          <p:cNvPr name="Group 4" id="4"/>
          <p:cNvGrpSpPr/>
          <p:nvPr/>
        </p:nvGrpSpPr>
        <p:grpSpPr>
          <a:xfrm rot="0">
            <a:off x="17259300" y="9210675"/>
            <a:ext cx="152400" cy="200025"/>
            <a:chOff x="0" y="0"/>
            <a:chExt cx="203200" cy="266700"/>
          </a:xfrm>
        </p:grpSpPr>
        <p:sp>
          <p:nvSpPr>
            <p:cNvPr name="Freeform 5" id="5"/>
            <p:cNvSpPr/>
            <p:nvPr/>
          </p:nvSpPr>
          <p:spPr>
            <a:xfrm flipH="false" flipV="false" rot="0">
              <a:off x="0" y="0"/>
              <a:ext cx="203200" cy="266700"/>
            </a:xfrm>
            <a:custGeom>
              <a:avLst/>
              <a:gdLst/>
              <a:ahLst/>
              <a:cxnLst/>
              <a:rect r="r" b="b" t="t" l="l"/>
              <a:pathLst>
                <a:path h="266700" w="203200">
                  <a:moveTo>
                    <a:pt x="0" y="0"/>
                  </a:moveTo>
                  <a:lnTo>
                    <a:pt x="203200" y="0"/>
                  </a:lnTo>
                  <a:lnTo>
                    <a:pt x="203200" y="266700"/>
                  </a:lnTo>
                  <a:lnTo>
                    <a:pt x="0" y="266700"/>
                  </a:lnTo>
                  <a:close/>
                </a:path>
              </a:pathLst>
            </a:custGeom>
            <a:solidFill>
              <a:srgbClr val="000000">
                <a:alpha val="0"/>
              </a:srgbClr>
            </a:solidFill>
          </p:spPr>
        </p:sp>
        <p:sp>
          <p:nvSpPr>
            <p:cNvPr name="TextBox 6" id="6"/>
            <p:cNvSpPr txBox="true"/>
            <p:nvPr/>
          </p:nvSpPr>
          <p:spPr>
            <a:xfrm>
              <a:off x="0" y="-47625"/>
              <a:ext cx="203200" cy="314325"/>
            </a:xfrm>
            <a:prstGeom prst="rect">
              <a:avLst/>
            </a:prstGeom>
          </p:spPr>
          <p:txBody>
            <a:bodyPr anchor="t" rtlCol="false" tIns="0" lIns="0" bIns="0" rIns="0"/>
            <a:lstStyle/>
            <a:p>
              <a:pPr algn="ctr">
                <a:lnSpc>
                  <a:spcPts val="2800"/>
                </a:lnSpc>
              </a:pPr>
              <a:r>
                <a:rPr lang="en-US" sz="2000">
                  <a:solidFill>
                    <a:srgbClr val="000000"/>
                  </a:solidFill>
                  <a:latin typeface="Canva Sans"/>
                  <a:ea typeface="Canva Sans"/>
                  <a:cs typeface="Canva Sans"/>
                  <a:sym typeface="Canva Sans"/>
                </a:rPr>
                <a:t>10</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DAGkVtoWpQE</dc:identifier>
  <dcterms:modified xsi:type="dcterms:W3CDTF">2011-08-01T06:04:30Z</dcterms:modified>
  <cp:revision>1</cp:revision>
  <dc:title>Under the Guidance of Mrs. L. SUNITHA ASST.PROFESSOR,Dept.of.CSE</dc:title>
</cp:coreProperties>
</file>